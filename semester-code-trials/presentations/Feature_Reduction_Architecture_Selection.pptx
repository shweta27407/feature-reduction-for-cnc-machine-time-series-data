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13258800" cy="23925200"/>
  <p:embeddedFontLst>
    <p:embeddedFont>
      <p:font typeface="Roboto"/>
      <p:regular r:id="rId28"/>
      <p:bold r:id="rId29"/>
      <p:italic r:id="rId30"/>
      <p:boldItalic r:id="rId31"/>
    </p:embeddedFont>
    <p:embeddedFont>
      <p:font typeface="Nunito"/>
      <p:regular r:id="rId32"/>
      <p:bold r:id="rId33"/>
      <p:italic r:id="rId34"/>
      <p:boldItalic r:id="rId35"/>
    </p:embeddedFont>
    <p:embeddedFont>
      <p:font typeface="Nunito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086059-BAFA-4AA2-B91A-F25674F77CA1}">
  <a:tblStyle styleId="{EB086059-BAFA-4AA2-B91A-F25674F77CA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9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5.xml"/><Relationship Id="rId33" Type="http://schemas.openxmlformats.org/officeDocument/2006/relationships/font" Target="fonts/Nunito-bold.fntdata"/><Relationship Id="rId10" Type="http://schemas.openxmlformats.org/officeDocument/2006/relationships/slide" Target="slides/slide4.xml"/><Relationship Id="rId32" Type="http://schemas.openxmlformats.org/officeDocument/2006/relationships/font" Target="fonts/Nunito-regular.fntdata"/><Relationship Id="rId13" Type="http://schemas.openxmlformats.org/officeDocument/2006/relationships/slide" Target="slides/slide7.xml"/><Relationship Id="rId35" Type="http://schemas.openxmlformats.org/officeDocument/2006/relationships/font" Target="fonts/Nunito-boldItalic.fntdata"/><Relationship Id="rId12" Type="http://schemas.openxmlformats.org/officeDocument/2006/relationships/slide" Target="slides/slide6.xml"/><Relationship Id="rId34" Type="http://schemas.openxmlformats.org/officeDocument/2006/relationships/font" Target="fonts/Nunito-italic.fntdata"/><Relationship Id="rId15" Type="http://schemas.openxmlformats.org/officeDocument/2006/relationships/slide" Target="slides/slide9.xml"/><Relationship Id="rId37" Type="http://schemas.openxmlformats.org/officeDocument/2006/relationships/font" Target="fonts/NunitoMedium-bold.fntdata"/><Relationship Id="rId14" Type="http://schemas.openxmlformats.org/officeDocument/2006/relationships/slide" Target="slides/slide8.xml"/><Relationship Id="rId36" Type="http://schemas.openxmlformats.org/officeDocument/2006/relationships/font" Target="fonts/NunitoMedium-regular.fntdata"/><Relationship Id="rId17" Type="http://schemas.openxmlformats.org/officeDocument/2006/relationships/slide" Target="slides/slide11.xml"/><Relationship Id="rId39" Type="http://schemas.openxmlformats.org/officeDocument/2006/relationships/font" Target="fonts/Nunito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Nunito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745163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7510463" y="0"/>
            <a:ext cx="5745162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546100" y="2990850"/>
            <a:ext cx="14351000" cy="8074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25563" y="11514138"/>
            <a:ext cx="10607675" cy="942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9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22725063"/>
            <a:ext cx="5745163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7510463" y="22725063"/>
            <a:ext cx="5745162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pdf/2204.11060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sciencedirect.com/science/article/pii/S2213846323000676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:notes"/>
          <p:cNvSpPr txBox="1"/>
          <p:nvPr>
            <p:ph idx="1" type="body"/>
          </p:nvPr>
        </p:nvSpPr>
        <p:spPr>
          <a:xfrm>
            <a:off x="1325563" y="11514138"/>
            <a:ext cx="10607675" cy="942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:notes"/>
          <p:cNvSpPr/>
          <p:nvPr>
            <p:ph idx="2" type="sldImg"/>
          </p:nvPr>
        </p:nvSpPr>
        <p:spPr>
          <a:xfrm>
            <a:off x="-546100" y="2990850"/>
            <a:ext cx="14351000" cy="8074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2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2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5553c4ddcc_0_0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5553c4ddcc_0_0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5553c4ddcc_0_0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fefe938af_3_0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5fefe938af_3_0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Research Paper - DIMENSION REDUCTION FOR TIME SERIES WITH VARIATIONAL AUTOENCODERS</a:t>
            </a:r>
            <a:endParaRPr b="1"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Link: </a:t>
            </a:r>
            <a:r>
              <a:rPr lang="de-DE" sz="12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2"/>
              </a:rPr>
              <a:t>https://arxiv.org/pdf/2204.11060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Technique:  </a:t>
            </a:r>
            <a:r>
              <a:rPr lang="de-DE" sz="1200">
                <a:latin typeface="Nunito Medium"/>
                <a:ea typeface="Nunito Medium"/>
                <a:cs typeface="Nunito Medium"/>
                <a:sym typeface="Nunito Medium"/>
              </a:rPr>
              <a:t>Variational Autoencoder (VAE)</a:t>
            </a:r>
            <a:br>
              <a:rPr lang="de-DE" sz="1200">
                <a:latin typeface="Nunito Medium"/>
                <a:ea typeface="Nunito Medium"/>
                <a:cs typeface="Nunito Medium"/>
                <a:sym typeface="Nunito Medium"/>
              </a:rPr>
            </a:b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Used for: </a:t>
            </a:r>
            <a:r>
              <a:rPr lang="de-DE" sz="1200">
                <a:latin typeface="Nunito Medium"/>
                <a:ea typeface="Nunito Medium"/>
                <a:cs typeface="Nunito Medium"/>
                <a:sym typeface="Nunito Medium"/>
              </a:rPr>
              <a:t>Compressing ECG signals (similar to multichannel CNC sensor data)</a:t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Steps:</a:t>
            </a:r>
            <a:endParaRPr b="1" sz="1200"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de-DE" sz="1200">
                <a:latin typeface="Nunito Medium"/>
                <a:ea typeface="Nunito Medium"/>
                <a:cs typeface="Nunito Medium"/>
                <a:sym typeface="Nunito Medium"/>
              </a:rPr>
              <a:t>Segment time series into windows.</a:t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de-DE" sz="1200">
                <a:latin typeface="Nunito Medium"/>
                <a:ea typeface="Nunito Medium"/>
                <a:cs typeface="Nunito Medium"/>
                <a:sym typeface="Nunito Medium"/>
              </a:rPr>
              <a:t>Normalize input signals.</a:t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de-DE" sz="1200">
                <a:latin typeface="Nunito Medium"/>
                <a:ea typeface="Nunito Medium"/>
                <a:cs typeface="Nunito Medium"/>
                <a:sym typeface="Nunito Medium"/>
              </a:rPr>
              <a:t>Encode into μ and σ via convolutional layers.</a:t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de-DE" sz="1200">
                <a:latin typeface="Nunito Medium"/>
                <a:ea typeface="Nunito Medium"/>
                <a:cs typeface="Nunito Medium"/>
                <a:sym typeface="Nunito Medium"/>
              </a:rPr>
              <a:t>Sample latent vector z (reparameterization trick).</a:t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de-DE" sz="1200">
                <a:latin typeface="Nunito Medium"/>
                <a:ea typeface="Nunito Medium"/>
                <a:cs typeface="Nunito Medium"/>
                <a:sym typeface="Nunito Medium"/>
              </a:rPr>
              <a:t>Decode z to reconstruct the signal.</a:t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de-DE" sz="1200">
                <a:latin typeface="Nunito Medium"/>
                <a:ea typeface="Nunito Medium"/>
                <a:cs typeface="Nunito Medium"/>
                <a:sym typeface="Nunito Medium"/>
              </a:rPr>
              <a:t>Optimize loss: reconstruction + KL divergence.</a:t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We can apply the same compression idea to </a:t>
            </a: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reduce our 52 control signals</a:t>
            </a: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 into a compact, meaningful latent representation for predicting energy consumption (</a:t>
            </a:r>
            <a:r>
              <a:rPr lang="de-DE" sz="1200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CURRENT|1–6</a:t>
            </a: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)</a:t>
            </a: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1" name="Google Shape;211;g35fefe938af_3_0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efe938af_3_9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efe938af_3_9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5fefe938af_3_9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fefe938af_3_52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fefe938af_3_52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Research Paper</a:t>
            </a: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 - </a:t>
            </a: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INTEROPERABLE SYSTEM FOR AUTOMATED EXTRACTION &amp; IDENTIFICATION OF MACHINE CONTROL DATA IN BROWNFIELD PRODUCTION </a:t>
            </a:r>
            <a:endParaRPr b="1"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Link:</a:t>
            </a: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de-DE" sz="12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2"/>
              </a:rPr>
              <a:t>https://www.sciencedirect.com/science/article/pii/S2213846323000676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Technique:</a:t>
            </a: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i="1" lang="de-DE" sz="1200">
                <a:latin typeface="Nunito"/>
                <a:ea typeface="Nunito"/>
                <a:cs typeface="Nunito"/>
                <a:sym typeface="Nunito"/>
              </a:rPr>
              <a:t>Signal Cleaning + Deep Learning Classification</a:t>
            </a: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 (LSTM, ResNet)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Steps:</a:t>
            </a:r>
            <a:endParaRPr b="1" sz="1200"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AutoNum type="arabicPeriod"/>
            </a:pP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Preprocess &amp; clean noisy/missing signals.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AutoNum type="arabicPeriod"/>
            </a:pP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Normalize all signals.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AutoNum type="arabicPeriod"/>
            </a:pP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Use DL models to classify signals (e.g., torque vs. position).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AutoNum type="arabicPeriod"/>
            </a:pP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Drop or merge irrelevant/duplicate signals.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AutoNum type="arabicPeriod"/>
            </a:pP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Apply domain rules to map signals to machine axes.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8" name="Google Shape;228;g35fefe938af_3_52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5fefe938af_3_61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5fefe938af_3_61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This is the </a:t>
            </a: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origin of our dataset</a:t>
            </a: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Guides </a:t>
            </a: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which signals to keep</a:t>
            </a: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 and </a:t>
            </a: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how to reduce input space</a:t>
            </a:r>
            <a:r>
              <a:rPr lang="de-DE" sz="1200">
                <a:latin typeface="Nunito"/>
                <a:ea typeface="Nunito"/>
                <a:cs typeface="Nunito"/>
                <a:sym typeface="Nunito"/>
              </a:rPr>
              <a:t> logically.</a:t>
            </a:r>
            <a:endParaRPr/>
          </a:p>
        </p:txBody>
      </p:sp>
      <p:sp>
        <p:nvSpPr>
          <p:cNvPr id="237" name="Google Shape;237;g35fefe938af_3_61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612f4051db_0_0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612f4051db_0_0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612f4051db_0_0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0d517e7ec_1_12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60d517e7ec_1_12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60d517e7ec_1_12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12f4051db_0_11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612f4051db_0_11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612f4051db_0_11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0d517e7ec_1_35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0d517e7ec_1_35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60d517e7ec_1_35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612f4051db_0_50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612f4051db_0_50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612f4051db_0_50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60d517e7ec_1_63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60d517e7ec_1_63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60d517e7ec_1_63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613d1bd3d4_0_15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613d1bd3d4_0_15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613d1bd3d4_0_15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613d1bd3d4_0_26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613d1bd3d4_0_26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613d1bd3d4_0_26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613d1bd3d4_0_8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613d1bd3d4_0_8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613d1bd3d4_0_8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613d1bd3d4_0_0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613d1bd3d4_0_0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613d1bd3d4_0_0:notes"/>
          <p:cNvSpPr txBox="1"/>
          <p:nvPr>
            <p:ph idx="12" type="sldNum"/>
          </p:nvPr>
        </p:nvSpPr>
        <p:spPr>
          <a:xfrm>
            <a:off x="7510463" y="22725063"/>
            <a:ext cx="5745300" cy="120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7:notes"/>
          <p:cNvSpPr txBox="1"/>
          <p:nvPr>
            <p:ph idx="1" type="body"/>
          </p:nvPr>
        </p:nvSpPr>
        <p:spPr>
          <a:xfrm>
            <a:off x="1325563" y="11514138"/>
            <a:ext cx="10607675" cy="942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p7:notes"/>
          <p:cNvSpPr/>
          <p:nvPr>
            <p:ph idx="2" type="sldImg"/>
          </p:nvPr>
        </p:nvSpPr>
        <p:spPr>
          <a:xfrm>
            <a:off x="-546100" y="2990850"/>
            <a:ext cx="14351000" cy="8074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613d1bd3d4_0_61:notes"/>
          <p:cNvSpPr txBox="1"/>
          <p:nvPr>
            <p:ph idx="1" type="body"/>
          </p:nvPr>
        </p:nvSpPr>
        <p:spPr>
          <a:xfrm>
            <a:off x="1325563" y="11514138"/>
            <a:ext cx="10607700" cy="9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g3613d1bd3d4_0_61:notes"/>
          <p:cNvSpPr/>
          <p:nvPr>
            <p:ph idx="2" type="sldImg"/>
          </p:nvPr>
        </p:nvSpPr>
        <p:spPr>
          <a:xfrm>
            <a:off x="-546100" y="2990850"/>
            <a:ext cx="14351100" cy="807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:notes"/>
          <p:cNvSpPr txBox="1"/>
          <p:nvPr>
            <p:ph idx="1" type="body"/>
          </p:nvPr>
        </p:nvSpPr>
        <p:spPr>
          <a:xfrm>
            <a:off x="1325563" y="11514138"/>
            <a:ext cx="10607675" cy="942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8:notes"/>
          <p:cNvSpPr/>
          <p:nvPr>
            <p:ph idx="2" type="sldImg"/>
          </p:nvPr>
        </p:nvSpPr>
        <p:spPr>
          <a:xfrm>
            <a:off x="-546100" y="2990850"/>
            <a:ext cx="14351000" cy="8074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:notes"/>
          <p:cNvSpPr txBox="1"/>
          <p:nvPr>
            <p:ph idx="1" type="body"/>
          </p:nvPr>
        </p:nvSpPr>
        <p:spPr>
          <a:xfrm>
            <a:off x="1325563" y="11514138"/>
            <a:ext cx="10607675" cy="942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9:notes"/>
          <p:cNvSpPr/>
          <p:nvPr>
            <p:ph idx="2" type="sldImg"/>
          </p:nvPr>
        </p:nvSpPr>
        <p:spPr>
          <a:xfrm>
            <a:off x="-546100" y="2990850"/>
            <a:ext cx="14351000" cy="8074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0" y="0"/>
            <a:ext cx="9144000" cy="2000196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7"/>
              <a:buFont typeface="Arial"/>
              <a:buNone/>
            </a:pPr>
            <a:r>
              <a:t/>
            </a:r>
            <a:endParaRPr b="0" i="0" sz="45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-up of a person's face&#10;&#10;Description automatically generated with medium confidence"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97495" y="-770"/>
            <a:ext cx="2346506" cy="20009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 with medium confidence" id="19" name="Google Shape;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76" y="171445"/>
            <a:ext cx="1816680" cy="62863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800176" y="1511499"/>
            <a:ext cx="6858001" cy="373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746"/>
              <a:buNone/>
              <a:defRPr b="1" sz="1745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1" name="Google Shape;21;p2"/>
          <p:cNvSpPr txBox="1"/>
          <p:nvPr>
            <p:ph type="ctrTitle"/>
          </p:nvPr>
        </p:nvSpPr>
        <p:spPr>
          <a:xfrm>
            <a:off x="800176" y="1113959"/>
            <a:ext cx="6858001" cy="397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23"/>
              <a:buFont typeface="Arial"/>
              <a:buNone/>
              <a:defRPr b="1" sz="222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Logo&#10;&#10;Description automatically generated" id="22" name="Google Shape;2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546" y="3314611"/>
            <a:ext cx="2857773" cy="1435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idx="1" type="body"/>
          </p:nvPr>
        </p:nvSpPr>
        <p:spPr>
          <a:xfrm>
            <a:off x="359999" y="1127290"/>
            <a:ext cx="84240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9438" lvl="0" marL="4572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588"/>
              <a:buChar char="•"/>
              <a:defRPr sz="1588"/>
            </a:lvl1pPr>
            <a:lvl2pPr indent="-319341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429"/>
              <a:buChar char="•"/>
              <a:defRPr sz="1429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400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719999" y="2772000"/>
            <a:ext cx="77040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2540"/>
              <a:buFont typeface="Arial"/>
              <a:buNone/>
              <a:defRPr b="1" sz="2540" cap="none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720000" y="1537200"/>
            <a:ext cx="77040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746"/>
              <a:buNone/>
              <a:defRPr b="0" sz="174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4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7"/>
              <a:buFont typeface="Arial"/>
              <a:buNone/>
            </a:pPr>
            <a:r>
              <a:t/>
            </a:r>
            <a:endParaRPr b="0" i="0" sz="45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794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ndwritten Notes">
  <p:cSld name="Handwritten Note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7"/>
              <a:buFont typeface="Arial"/>
              <a:buNone/>
            </a:pPr>
            <a:r>
              <a:t/>
            </a:r>
            <a:endParaRPr b="0" i="0" sz="45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400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grpSp>
        <p:nvGrpSpPr>
          <p:cNvPr id="39" name="Google Shape;39;p5"/>
          <p:cNvGrpSpPr/>
          <p:nvPr/>
        </p:nvGrpSpPr>
        <p:grpSpPr>
          <a:xfrm>
            <a:off x="-1" y="520148"/>
            <a:ext cx="9146192" cy="4451903"/>
            <a:chOff x="-1" y="520148"/>
            <a:chExt cx="9146192" cy="4451903"/>
          </a:xfrm>
        </p:grpSpPr>
        <p:grpSp>
          <p:nvGrpSpPr>
            <p:cNvPr id="40" name="Google Shape;40;p5"/>
            <p:cNvGrpSpPr/>
            <p:nvPr/>
          </p:nvGrpSpPr>
          <p:grpSpPr>
            <a:xfrm>
              <a:off x="-1" y="644540"/>
              <a:ext cx="9146191" cy="3641022"/>
              <a:chOff x="139700" y="1063145"/>
              <a:chExt cx="8890000" cy="3539331"/>
            </a:xfrm>
          </p:grpSpPr>
          <p:cxnSp>
            <p:nvCxnSpPr>
              <p:cNvPr id="41" name="Google Shape;41;p5"/>
              <p:cNvCxnSpPr/>
              <p:nvPr/>
            </p:nvCxnSpPr>
            <p:spPr>
              <a:xfrm>
                <a:off x="139700" y="1063145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2" name="Google Shape;42;p5"/>
              <p:cNvCxnSpPr/>
              <p:nvPr/>
            </p:nvCxnSpPr>
            <p:spPr>
              <a:xfrm>
                <a:off x="139700" y="1194231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3" name="Google Shape;43;p5"/>
              <p:cNvCxnSpPr/>
              <p:nvPr/>
            </p:nvCxnSpPr>
            <p:spPr>
              <a:xfrm>
                <a:off x="139700" y="1325317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4" name="Google Shape;44;p5"/>
              <p:cNvCxnSpPr/>
              <p:nvPr/>
            </p:nvCxnSpPr>
            <p:spPr>
              <a:xfrm>
                <a:off x="139700" y="1456403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5" name="Google Shape;45;p5"/>
              <p:cNvCxnSpPr/>
              <p:nvPr/>
            </p:nvCxnSpPr>
            <p:spPr>
              <a:xfrm>
                <a:off x="139700" y="1587489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" name="Google Shape;46;p5"/>
              <p:cNvCxnSpPr/>
              <p:nvPr/>
            </p:nvCxnSpPr>
            <p:spPr>
              <a:xfrm>
                <a:off x="139700" y="1718575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" name="Google Shape;47;p5"/>
              <p:cNvCxnSpPr/>
              <p:nvPr/>
            </p:nvCxnSpPr>
            <p:spPr>
              <a:xfrm>
                <a:off x="139700" y="1849661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8" name="Google Shape;48;p5"/>
              <p:cNvCxnSpPr/>
              <p:nvPr/>
            </p:nvCxnSpPr>
            <p:spPr>
              <a:xfrm>
                <a:off x="139700" y="1980747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9" name="Google Shape;49;p5"/>
              <p:cNvCxnSpPr/>
              <p:nvPr/>
            </p:nvCxnSpPr>
            <p:spPr>
              <a:xfrm>
                <a:off x="139700" y="2111833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0" name="Google Shape;50;p5"/>
              <p:cNvCxnSpPr/>
              <p:nvPr/>
            </p:nvCxnSpPr>
            <p:spPr>
              <a:xfrm>
                <a:off x="139700" y="2242919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1" name="Google Shape;51;p5"/>
              <p:cNvCxnSpPr/>
              <p:nvPr/>
            </p:nvCxnSpPr>
            <p:spPr>
              <a:xfrm>
                <a:off x="139700" y="2374005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139700" y="2505091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139700" y="2636177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4" name="Google Shape;54;p5"/>
              <p:cNvCxnSpPr/>
              <p:nvPr/>
            </p:nvCxnSpPr>
            <p:spPr>
              <a:xfrm>
                <a:off x="139700" y="2767263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5" name="Google Shape;55;p5"/>
              <p:cNvCxnSpPr/>
              <p:nvPr/>
            </p:nvCxnSpPr>
            <p:spPr>
              <a:xfrm>
                <a:off x="139700" y="2898349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139700" y="3029435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139700" y="3160521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5"/>
              <p:cNvCxnSpPr/>
              <p:nvPr/>
            </p:nvCxnSpPr>
            <p:spPr>
              <a:xfrm>
                <a:off x="139700" y="3291607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5"/>
              <p:cNvCxnSpPr/>
              <p:nvPr/>
            </p:nvCxnSpPr>
            <p:spPr>
              <a:xfrm>
                <a:off x="139700" y="3422693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5"/>
              <p:cNvCxnSpPr/>
              <p:nvPr/>
            </p:nvCxnSpPr>
            <p:spPr>
              <a:xfrm>
                <a:off x="139700" y="3553779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5"/>
              <p:cNvCxnSpPr/>
              <p:nvPr/>
            </p:nvCxnSpPr>
            <p:spPr>
              <a:xfrm>
                <a:off x="139700" y="3684865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5"/>
              <p:cNvCxnSpPr/>
              <p:nvPr/>
            </p:nvCxnSpPr>
            <p:spPr>
              <a:xfrm>
                <a:off x="139700" y="3815951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5"/>
              <p:cNvCxnSpPr/>
              <p:nvPr/>
            </p:nvCxnSpPr>
            <p:spPr>
              <a:xfrm>
                <a:off x="139700" y="3947037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5"/>
              <p:cNvCxnSpPr/>
              <p:nvPr/>
            </p:nvCxnSpPr>
            <p:spPr>
              <a:xfrm>
                <a:off x="139700" y="4078123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5"/>
              <p:cNvCxnSpPr/>
              <p:nvPr/>
            </p:nvCxnSpPr>
            <p:spPr>
              <a:xfrm>
                <a:off x="139700" y="4209209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5"/>
              <p:cNvCxnSpPr/>
              <p:nvPr/>
            </p:nvCxnSpPr>
            <p:spPr>
              <a:xfrm>
                <a:off x="139700" y="4340295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5"/>
              <p:cNvCxnSpPr/>
              <p:nvPr/>
            </p:nvCxnSpPr>
            <p:spPr>
              <a:xfrm>
                <a:off x="139700" y="4471381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5"/>
              <p:cNvCxnSpPr/>
              <p:nvPr/>
            </p:nvCxnSpPr>
            <p:spPr>
              <a:xfrm>
                <a:off x="139700" y="4602476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9" name="Google Shape;69;p5"/>
            <p:cNvGrpSpPr/>
            <p:nvPr/>
          </p:nvGrpSpPr>
          <p:grpSpPr>
            <a:xfrm>
              <a:off x="110067" y="520148"/>
              <a:ext cx="8912813" cy="4451903"/>
              <a:chOff x="235573" y="916827"/>
              <a:chExt cx="8663159" cy="3797693"/>
            </a:xfrm>
          </p:grpSpPr>
          <p:cxnSp>
            <p:nvCxnSpPr>
              <p:cNvPr id="70" name="Google Shape;70;p5"/>
              <p:cNvCxnSpPr/>
              <p:nvPr/>
            </p:nvCxnSpPr>
            <p:spPr>
              <a:xfrm flipH="1">
                <a:off x="235573" y="916827"/>
                <a:ext cx="5727" cy="3796652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5"/>
              <p:cNvCxnSpPr/>
              <p:nvPr/>
            </p:nvCxnSpPr>
            <p:spPr>
              <a:xfrm>
                <a:off x="372473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5"/>
              <p:cNvCxnSpPr/>
              <p:nvPr/>
            </p:nvCxnSpPr>
            <p:spPr>
              <a:xfrm>
                <a:off x="503646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5"/>
              <p:cNvCxnSpPr/>
              <p:nvPr/>
            </p:nvCxnSpPr>
            <p:spPr>
              <a:xfrm>
                <a:off x="634819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5"/>
              <p:cNvCxnSpPr/>
              <p:nvPr/>
            </p:nvCxnSpPr>
            <p:spPr>
              <a:xfrm>
                <a:off x="765992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5"/>
              <p:cNvCxnSpPr/>
              <p:nvPr/>
            </p:nvCxnSpPr>
            <p:spPr>
              <a:xfrm>
                <a:off x="897165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5"/>
              <p:cNvCxnSpPr/>
              <p:nvPr/>
            </p:nvCxnSpPr>
            <p:spPr>
              <a:xfrm>
                <a:off x="1028338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5"/>
              <p:cNvCxnSpPr/>
              <p:nvPr/>
            </p:nvCxnSpPr>
            <p:spPr>
              <a:xfrm>
                <a:off x="1159511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8" name="Google Shape;78;p5"/>
              <p:cNvCxnSpPr/>
              <p:nvPr/>
            </p:nvCxnSpPr>
            <p:spPr>
              <a:xfrm>
                <a:off x="1290684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" name="Google Shape;79;p5"/>
              <p:cNvCxnSpPr/>
              <p:nvPr/>
            </p:nvCxnSpPr>
            <p:spPr>
              <a:xfrm>
                <a:off x="1421857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5"/>
              <p:cNvCxnSpPr/>
              <p:nvPr/>
            </p:nvCxnSpPr>
            <p:spPr>
              <a:xfrm>
                <a:off x="1553030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5"/>
              <p:cNvCxnSpPr/>
              <p:nvPr/>
            </p:nvCxnSpPr>
            <p:spPr>
              <a:xfrm>
                <a:off x="1684203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5"/>
              <p:cNvCxnSpPr/>
              <p:nvPr/>
            </p:nvCxnSpPr>
            <p:spPr>
              <a:xfrm>
                <a:off x="1815376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5"/>
              <p:cNvCxnSpPr/>
              <p:nvPr/>
            </p:nvCxnSpPr>
            <p:spPr>
              <a:xfrm>
                <a:off x="1946549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5"/>
              <p:cNvCxnSpPr/>
              <p:nvPr/>
            </p:nvCxnSpPr>
            <p:spPr>
              <a:xfrm>
                <a:off x="2077722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5"/>
              <p:cNvCxnSpPr/>
              <p:nvPr/>
            </p:nvCxnSpPr>
            <p:spPr>
              <a:xfrm>
                <a:off x="2208895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5"/>
              <p:cNvCxnSpPr/>
              <p:nvPr/>
            </p:nvCxnSpPr>
            <p:spPr>
              <a:xfrm>
                <a:off x="2340068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2471241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2602414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5"/>
              <p:cNvCxnSpPr/>
              <p:nvPr/>
            </p:nvCxnSpPr>
            <p:spPr>
              <a:xfrm>
                <a:off x="2733587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5"/>
              <p:cNvCxnSpPr/>
              <p:nvPr/>
            </p:nvCxnSpPr>
            <p:spPr>
              <a:xfrm>
                <a:off x="2864760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5"/>
              <p:cNvCxnSpPr/>
              <p:nvPr/>
            </p:nvCxnSpPr>
            <p:spPr>
              <a:xfrm>
                <a:off x="2995933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5"/>
              <p:cNvCxnSpPr/>
              <p:nvPr/>
            </p:nvCxnSpPr>
            <p:spPr>
              <a:xfrm>
                <a:off x="3127106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5"/>
              <p:cNvCxnSpPr/>
              <p:nvPr/>
            </p:nvCxnSpPr>
            <p:spPr>
              <a:xfrm>
                <a:off x="3258279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5"/>
              <p:cNvCxnSpPr/>
              <p:nvPr/>
            </p:nvCxnSpPr>
            <p:spPr>
              <a:xfrm>
                <a:off x="3389452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5"/>
              <p:cNvCxnSpPr/>
              <p:nvPr/>
            </p:nvCxnSpPr>
            <p:spPr>
              <a:xfrm>
                <a:off x="3520625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5"/>
              <p:cNvCxnSpPr/>
              <p:nvPr/>
            </p:nvCxnSpPr>
            <p:spPr>
              <a:xfrm>
                <a:off x="3651798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5"/>
              <p:cNvCxnSpPr/>
              <p:nvPr/>
            </p:nvCxnSpPr>
            <p:spPr>
              <a:xfrm>
                <a:off x="3782971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5"/>
              <p:cNvCxnSpPr/>
              <p:nvPr/>
            </p:nvCxnSpPr>
            <p:spPr>
              <a:xfrm>
                <a:off x="3914144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4045317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4176490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4307663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4438836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3" name="Google Shape;103;p5"/>
              <p:cNvCxnSpPr/>
              <p:nvPr/>
            </p:nvCxnSpPr>
            <p:spPr>
              <a:xfrm>
                <a:off x="4570009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5"/>
              <p:cNvCxnSpPr/>
              <p:nvPr/>
            </p:nvCxnSpPr>
            <p:spPr>
              <a:xfrm>
                <a:off x="4701182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5"/>
              <p:cNvCxnSpPr/>
              <p:nvPr/>
            </p:nvCxnSpPr>
            <p:spPr>
              <a:xfrm>
                <a:off x="4832355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5"/>
              <p:cNvCxnSpPr/>
              <p:nvPr/>
            </p:nvCxnSpPr>
            <p:spPr>
              <a:xfrm>
                <a:off x="4963528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5"/>
              <p:cNvCxnSpPr/>
              <p:nvPr/>
            </p:nvCxnSpPr>
            <p:spPr>
              <a:xfrm>
                <a:off x="5094701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8" name="Google Shape;108;p5"/>
              <p:cNvCxnSpPr/>
              <p:nvPr/>
            </p:nvCxnSpPr>
            <p:spPr>
              <a:xfrm>
                <a:off x="5225874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9" name="Google Shape;109;p5"/>
              <p:cNvCxnSpPr/>
              <p:nvPr/>
            </p:nvCxnSpPr>
            <p:spPr>
              <a:xfrm>
                <a:off x="5357047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" name="Google Shape;110;p5"/>
              <p:cNvCxnSpPr/>
              <p:nvPr/>
            </p:nvCxnSpPr>
            <p:spPr>
              <a:xfrm>
                <a:off x="5488220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5"/>
              <p:cNvCxnSpPr/>
              <p:nvPr/>
            </p:nvCxnSpPr>
            <p:spPr>
              <a:xfrm>
                <a:off x="5619393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5"/>
              <p:cNvCxnSpPr/>
              <p:nvPr/>
            </p:nvCxnSpPr>
            <p:spPr>
              <a:xfrm>
                <a:off x="5750566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3" name="Google Shape;113;p5"/>
              <p:cNvCxnSpPr/>
              <p:nvPr/>
            </p:nvCxnSpPr>
            <p:spPr>
              <a:xfrm>
                <a:off x="5881739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4" name="Google Shape;114;p5"/>
              <p:cNvCxnSpPr/>
              <p:nvPr/>
            </p:nvCxnSpPr>
            <p:spPr>
              <a:xfrm>
                <a:off x="6012912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5"/>
              <p:cNvCxnSpPr/>
              <p:nvPr/>
            </p:nvCxnSpPr>
            <p:spPr>
              <a:xfrm>
                <a:off x="6144085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5"/>
              <p:cNvCxnSpPr/>
              <p:nvPr/>
            </p:nvCxnSpPr>
            <p:spPr>
              <a:xfrm>
                <a:off x="6275258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5"/>
              <p:cNvCxnSpPr/>
              <p:nvPr/>
            </p:nvCxnSpPr>
            <p:spPr>
              <a:xfrm>
                <a:off x="6406431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5"/>
              <p:cNvCxnSpPr/>
              <p:nvPr/>
            </p:nvCxnSpPr>
            <p:spPr>
              <a:xfrm>
                <a:off x="6537604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" name="Google Shape;119;p5"/>
              <p:cNvCxnSpPr/>
              <p:nvPr/>
            </p:nvCxnSpPr>
            <p:spPr>
              <a:xfrm>
                <a:off x="6668777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5"/>
              <p:cNvCxnSpPr/>
              <p:nvPr/>
            </p:nvCxnSpPr>
            <p:spPr>
              <a:xfrm>
                <a:off x="6799950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5"/>
              <p:cNvCxnSpPr/>
              <p:nvPr/>
            </p:nvCxnSpPr>
            <p:spPr>
              <a:xfrm>
                <a:off x="6931123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" name="Google Shape;122;p5"/>
              <p:cNvCxnSpPr/>
              <p:nvPr/>
            </p:nvCxnSpPr>
            <p:spPr>
              <a:xfrm>
                <a:off x="7062296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" name="Google Shape;123;p5"/>
              <p:cNvCxnSpPr/>
              <p:nvPr/>
            </p:nvCxnSpPr>
            <p:spPr>
              <a:xfrm>
                <a:off x="7193469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" name="Google Shape;124;p5"/>
              <p:cNvCxnSpPr/>
              <p:nvPr/>
            </p:nvCxnSpPr>
            <p:spPr>
              <a:xfrm>
                <a:off x="7324642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" name="Google Shape;125;p5"/>
              <p:cNvCxnSpPr/>
              <p:nvPr/>
            </p:nvCxnSpPr>
            <p:spPr>
              <a:xfrm>
                <a:off x="7455815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" name="Google Shape;126;p5"/>
              <p:cNvCxnSpPr/>
              <p:nvPr/>
            </p:nvCxnSpPr>
            <p:spPr>
              <a:xfrm>
                <a:off x="7586988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7" name="Google Shape;127;p5"/>
              <p:cNvCxnSpPr/>
              <p:nvPr/>
            </p:nvCxnSpPr>
            <p:spPr>
              <a:xfrm>
                <a:off x="7718161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5"/>
              <p:cNvCxnSpPr/>
              <p:nvPr/>
            </p:nvCxnSpPr>
            <p:spPr>
              <a:xfrm>
                <a:off x="7849334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5"/>
              <p:cNvCxnSpPr/>
              <p:nvPr/>
            </p:nvCxnSpPr>
            <p:spPr>
              <a:xfrm>
                <a:off x="7980507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5"/>
              <p:cNvCxnSpPr/>
              <p:nvPr/>
            </p:nvCxnSpPr>
            <p:spPr>
              <a:xfrm>
                <a:off x="8111680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5"/>
              <p:cNvCxnSpPr/>
              <p:nvPr/>
            </p:nvCxnSpPr>
            <p:spPr>
              <a:xfrm>
                <a:off x="8242853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" name="Google Shape;132;p5"/>
              <p:cNvCxnSpPr/>
              <p:nvPr/>
            </p:nvCxnSpPr>
            <p:spPr>
              <a:xfrm>
                <a:off x="8374026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" name="Google Shape;133;p5"/>
              <p:cNvCxnSpPr/>
              <p:nvPr/>
            </p:nvCxnSpPr>
            <p:spPr>
              <a:xfrm>
                <a:off x="8505199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" name="Google Shape;134;p5"/>
              <p:cNvCxnSpPr/>
              <p:nvPr/>
            </p:nvCxnSpPr>
            <p:spPr>
              <a:xfrm>
                <a:off x="8636372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5" name="Google Shape;135;p5"/>
              <p:cNvCxnSpPr/>
              <p:nvPr/>
            </p:nvCxnSpPr>
            <p:spPr>
              <a:xfrm>
                <a:off x="8767545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6" name="Google Shape;136;p5"/>
              <p:cNvCxnSpPr/>
              <p:nvPr/>
            </p:nvCxnSpPr>
            <p:spPr>
              <a:xfrm>
                <a:off x="8898732" y="916827"/>
                <a:ext cx="0" cy="3797693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7" name="Google Shape;137;p5"/>
            <p:cNvGrpSpPr/>
            <p:nvPr/>
          </p:nvGrpSpPr>
          <p:grpSpPr>
            <a:xfrm>
              <a:off x="0" y="4420423"/>
              <a:ext cx="9146191" cy="539409"/>
              <a:chOff x="139700" y="1063145"/>
              <a:chExt cx="8890000" cy="524344"/>
            </a:xfrm>
          </p:grpSpPr>
          <p:cxnSp>
            <p:nvCxnSpPr>
              <p:cNvPr id="138" name="Google Shape;138;p5"/>
              <p:cNvCxnSpPr/>
              <p:nvPr/>
            </p:nvCxnSpPr>
            <p:spPr>
              <a:xfrm>
                <a:off x="139700" y="1063145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5"/>
              <p:cNvCxnSpPr/>
              <p:nvPr/>
            </p:nvCxnSpPr>
            <p:spPr>
              <a:xfrm>
                <a:off x="139700" y="1194231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5"/>
              <p:cNvCxnSpPr/>
              <p:nvPr/>
            </p:nvCxnSpPr>
            <p:spPr>
              <a:xfrm>
                <a:off x="139700" y="1325317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5"/>
              <p:cNvCxnSpPr/>
              <p:nvPr/>
            </p:nvCxnSpPr>
            <p:spPr>
              <a:xfrm>
                <a:off x="139700" y="1456403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5"/>
              <p:cNvCxnSpPr/>
              <p:nvPr/>
            </p:nvCxnSpPr>
            <p:spPr>
              <a:xfrm>
                <a:off x="139700" y="1587489"/>
                <a:ext cx="8890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E9EAE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pic>
        <p:nvPicPr>
          <p:cNvPr id="143" name="Google Shape;14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" y="-3958"/>
            <a:ext cx="9144000" cy="628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400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"/>
          <p:cNvSpPr txBox="1"/>
          <p:nvPr>
            <p:ph idx="1" type="body"/>
          </p:nvPr>
        </p:nvSpPr>
        <p:spPr>
          <a:xfrm>
            <a:off x="628650" y="1369218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6"/>
          <p:cNvSpPr txBox="1"/>
          <p:nvPr>
            <p:ph idx="2" type="body"/>
          </p:nvPr>
        </p:nvSpPr>
        <p:spPr>
          <a:xfrm>
            <a:off x="4629150" y="1369218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6"/>
          <p:cNvSpPr txBox="1"/>
          <p:nvPr>
            <p:ph idx="11" type="ftr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6"/>
          <p:cNvSpPr txBox="1"/>
          <p:nvPr>
            <p:ph idx="12" type="sldNum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>
            <p:ph idx="1" type="body"/>
          </p:nvPr>
        </p:nvSpPr>
        <p:spPr>
          <a:xfrm>
            <a:off x="595979" y="820608"/>
            <a:ext cx="3868340" cy="6179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b="1" sz="1349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2" name="Google Shape;152;p7"/>
          <p:cNvSpPr txBox="1"/>
          <p:nvPr>
            <p:ph idx="2" type="body"/>
          </p:nvPr>
        </p:nvSpPr>
        <p:spPr>
          <a:xfrm>
            <a:off x="595979" y="1438541"/>
            <a:ext cx="3868340" cy="3074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7"/>
          <p:cNvSpPr txBox="1"/>
          <p:nvPr>
            <p:ph idx="3" type="body"/>
          </p:nvPr>
        </p:nvSpPr>
        <p:spPr>
          <a:xfrm>
            <a:off x="4663015" y="820608"/>
            <a:ext cx="3887390" cy="6179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b="1" sz="1349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4" name="Google Shape;154;p7"/>
          <p:cNvSpPr txBox="1"/>
          <p:nvPr>
            <p:ph idx="4" type="body"/>
          </p:nvPr>
        </p:nvSpPr>
        <p:spPr>
          <a:xfrm>
            <a:off x="4663015" y="1438540"/>
            <a:ext cx="3887390" cy="3074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7"/>
          <p:cNvSpPr txBox="1"/>
          <p:nvPr>
            <p:ph idx="11" type="ftr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7"/>
          <p:cNvSpPr txBox="1"/>
          <p:nvPr>
            <p:ph idx="12" type="sldNum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57" name="Google Shape;157;p7"/>
          <p:cNvSpPr txBox="1"/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400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400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8"/>
          <p:cNvSpPr txBox="1"/>
          <p:nvPr>
            <p:ph idx="11" type="ftr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8"/>
          <p:cNvSpPr txBox="1"/>
          <p:nvPr>
            <p:ph idx="12" type="sldNum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idx="11" type="ftr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9"/>
          <p:cNvSpPr txBox="1"/>
          <p:nvPr>
            <p:ph idx="12" type="sldNum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>
            <p:ph idx="1" type="body"/>
          </p:nvPr>
        </p:nvSpPr>
        <p:spPr>
          <a:xfrm>
            <a:off x="3887390" y="740570"/>
            <a:ext cx="4629151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67" name="Google Shape;167;p10"/>
          <p:cNvSpPr txBox="1"/>
          <p:nvPr>
            <p:ph idx="2" type="body"/>
          </p:nvPr>
        </p:nvSpPr>
        <p:spPr>
          <a:xfrm>
            <a:off x="629842" y="1543050"/>
            <a:ext cx="2949177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49"/>
              <a:buNone/>
              <a:defRPr sz="1049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9pPr>
          </a:lstStyle>
          <a:p/>
        </p:txBody>
      </p:sp>
      <p:sp>
        <p:nvSpPr>
          <p:cNvPr id="168" name="Google Shape;168;p10"/>
          <p:cNvSpPr txBox="1"/>
          <p:nvPr>
            <p:ph idx="11" type="ftr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0"/>
          <p:cNvSpPr txBox="1"/>
          <p:nvPr>
            <p:ph idx="12" type="sldNum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/>
          <p:nvPr>
            <p:ph idx="2" type="pic"/>
          </p:nvPr>
        </p:nvSpPr>
        <p:spPr>
          <a:xfrm>
            <a:off x="3887390" y="740570"/>
            <a:ext cx="4629151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11"/>
          <p:cNvSpPr txBox="1"/>
          <p:nvPr>
            <p:ph idx="1" type="body"/>
          </p:nvPr>
        </p:nvSpPr>
        <p:spPr>
          <a:xfrm>
            <a:off x="629842" y="1543051"/>
            <a:ext cx="2949177" cy="2292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49"/>
              <a:buNone/>
              <a:defRPr sz="1049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9pPr>
          </a:lstStyle>
          <a:p/>
        </p:txBody>
      </p:sp>
      <p:sp>
        <p:nvSpPr>
          <p:cNvPr id="173" name="Google Shape;173;p11"/>
          <p:cNvSpPr txBox="1"/>
          <p:nvPr>
            <p:ph idx="11" type="ftr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1"/>
          <p:cNvSpPr txBox="1"/>
          <p:nvPr>
            <p:ph idx="12" type="sldNum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89"/>
              <a:buFont typeface="Arial"/>
              <a:buNone/>
            </a:pPr>
            <a:r>
              <a:rPr b="1" i="0" lang="de-DE" sz="1889" u="none" cap="none" strike="noStrike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b="1" i="0" sz="1889" u="none" cap="none" strike="noStrike">
              <a:solidFill>
                <a:srgbClr val="0068B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/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4000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2"/>
          <p:cNvSpPr txBox="1"/>
          <p:nvPr>
            <p:ph idx="1" type="body"/>
          </p:nvPr>
        </p:nvSpPr>
        <p:spPr>
          <a:xfrm rot="5400000">
            <a:off x="2686192" y="-1184309"/>
            <a:ext cx="3263503" cy="7886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12"/>
          <p:cNvSpPr txBox="1"/>
          <p:nvPr>
            <p:ph idx="11" type="ftr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2"/>
          <p:cNvSpPr txBox="1"/>
          <p:nvPr>
            <p:ph idx="12" type="sldNum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94" y="-3958"/>
            <a:ext cx="9144000" cy="62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37"/>
              <a:buFont typeface="Arial"/>
              <a:buNone/>
            </a:pPr>
            <a:r>
              <a:t/>
            </a:r>
            <a:endParaRPr b="0" i="0" sz="45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4000" spcFirstLastPara="1" rIns="91425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89"/>
              <a:buFont typeface="Arial"/>
              <a:buNone/>
              <a:defRPr b="1" i="0" sz="1889" u="none" cap="none" strike="noStrike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9471" lvl="0" marL="457200" marR="0" rtl="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b="0" i="0" sz="174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9437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b="0" i="0" sz="158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341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b="0" i="0" sz="142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261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261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261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261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261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261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b="0" i="0" sz="134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794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5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  <a:defRPr b="1" i="0" sz="79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rxiv.org/pdf/2204.11060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sciencedirect.com/science/article/pii/S2213846323000676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rxiv.org/pdf/2412.19423?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researchgate.net/publication/220500224_Nonlinear_Component_Analysis_as_a_Kernel_Eigenvalue_Proble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science.org/doi/10.1126/science.290.5500.2323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hyperlink" Target="https://deepai.org/machine-learning-glossary-and-terms/feature-reduction" TargetMode="External"/><Relationship Id="rId10" Type="http://schemas.openxmlformats.org/officeDocument/2006/relationships/hyperlink" Target="https://doi.org/10.1016/j.compbiomed.2022.105871" TargetMode="External"/><Relationship Id="rId13" Type="http://schemas.openxmlformats.org/officeDocument/2006/relationships/hyperlink" Target="https://medium.com/data-science/dimensionality-reduction-for-data-visualization-pca-vs-tsne-vs-umap-be4aa7b1cb29" TargetMode="External"/><Relationship Id="rId12" Type="http://schemas.openxmlformats.org/officeDocument/2006/relationships/hyperlink" Target="https://medium.com/aimonks/a-comparative-analysis-of-dimensionality-reduction-techniques-in-machine-learning-3389c5103348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ieeexplore.ieee.org/document/10107391" TargetMode="External"/><Relationship Id="rId4" Type="http://schemas.openxmlformats.org/officeDocument/2006/relationships/hyperlink" Target="https://doi.org/10.1007/s11227-021-04303-4" TargetMode="External"/><Relationship Id="rId9" Type="http://schemas.openxmlformats.org/officeDocument/2006/relationships/hyperlink" Target="https://arxiv.org/abs/2210.08288" TargetMode="External"/><Relationship Id="rId14" Type="http://schemas.openxmlformats.org/officeDocument/2006/relationships/hyperlink" Target="https://www.geeksforgeeks.org/dimensionality-reduction/" TargetMode="External"/><Relationship Id="rId5" Type="http://schemas.openxmlformats.org/officeDocument/2006/relationships/hyperlink" Target="https://doi.org/10.48550/arXiv.2204.11060" TargetMode="External"/><Relationship Id="rId6" Type="http://schemas.openxmlformats.org/officeDocument/2006/relationships/hyperlink" Target="https://arxiv.org/search/cs?searchtype=author&amp;query=Ran,+R" TargetMode="External"/><Relationship Id="rId7" Type="http://schemas.openxmlformats.org/officeDocument/2006/relationships/hyperlink" Target="https://arxiv.org/search/cs?searchtype=author&amp;query=Gao,+T" TargetMode="External"/><Relationship Id="rId8" Type="http://schemas.openxmlformats.org/officeDocument/2006/relationships/hyperlink" Target="https://arxiv.org/search/cs?searchtype=author&amp;query=Fang,+B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>
            <p:ph type="ctrTitle"/>
          </p:nvPr>
        </p:nvSpPr>
        <p:spPr>
          <a:xfrm>
            <a:off x="824675" y="1132525"/>
            <a:ext cx="76503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de-DE" sz="2423">
                <a:latin typeface="Nunito"/>
                <a:ea typeface="Nunito"/>
                <a:cs typeface="Nunito"/>
                <a:sym typeface="Nunito"/>
              </a:rPr>
              <a:t>Feature Reduction in Time Series - Literature Review</a:t>
            </a:r>
            <a:endParaRPr sz="2423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552525" y="3728200"/>
            <a:ext cx="528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de-DE" sz="12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Team Members: </a:t>
            </a:r>
            <a:r>
              <a:rPr b="1" lang="de-DE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Debapriya Roy, </a:t>
            </a:r>
            <a:r>
              <a:rPr b="1" lang="de-DE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Shweta Bambal, Jayanthee Siva Perumal</a:t>
            </a:r>
            <a:endParaRPr b="1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552522" y="2570175"/>
            <a:ext cx="35064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1"/>
              <a:buFont typeface="Arial"/>
              <a:buNone/>
            </a:pPr>
            <a:r>
              <a:rPr i="0" lang="de-DE" sz="1111" u="none" cap="none" strike="noStrike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Autonomous Multisensor Systems Group</a:t>
            </a:r>
            <a:endParaRPr i="0" sz="1400" u="none" cap="none" strike="noStrik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1"/>
              <a:buFont typeface="Arial"/>
              <a:buNone/>
            </a:pPr>
            <a:r>
              <a:rPr i="0" lang="de-DE" sz="1111" u="none" cap="none" strike="noStrike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Institute for Intelligent Cooperating Systems</a:t>
            </a:r>
            <a:endParaRPr i="0" sz="1400" u="none" cap="none" strike="noStrik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1"/>
              <a:buFont typeface="Arial"/>
              <a:buNone/>
            </a:pPr>
            <a:r>
              <a:rPr i="0" lang="de-DE" sz="1111" u="none" cap="none" strike="noStrike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Faculty of Computer Science</a:t>
            </a:r>
            <a:endParaRPr i="0" sz="1400" u="none" cap="none" strike="noStrik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1"/>
              <a:buFont typeface="Arial"/>
              <a:buNone/>
            </a:pPr>
            <a:r>
              <a:rPr i="0" lang="de-DE" sz="1111" u="none" cap="none" strike="noStrike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Otto von Guericke University, Magdeburg</a:t>
            </a:r>
            <a:endParaRPr i="0" sz="1400" u="none" cap="none" strike="noStrik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552522" y="4386725"/>
            <a:ext cx="3352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1"/>
              <a:buFont typeface="Arial"/>
              <a:buNone/>
            </a:pPr>
            <a:r>
              <a:rPr i="0" lang="de-DE" sz="1111" u="none" cap="none" strike="noStrike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0</a:t>
            </a:r>
            <a:r>
              <a:rPr lang="de-DE" sz="1111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5</a:t>
            </a:r>
            <a:r>
              <a:rPr i="0" lang="de-DE" sz="1111" u="none" cap="none" strike="noStrike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.0</a:t>
            </a:r>
            <a:r>
              <a:rPr lang="de-DE" sz="1111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6</a:t>
            </a:r>
            <a:r>
              <a:rPr i="0" lang="de-DE" sz="1111" u="none" cap="none" strike="noStrike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.202</a:t>
            </a:r>
            <a:r>
              <a:rPr lang="de-DE" sz="1111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5</a:t>
            </a:r>
            <a:endParaRPr i="0" sz="1400" u="none" cap="none" strike="noStrik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>
            <p:ph idx="1" type="body"/>
          </p:nvPr>
        </p:nvSpPr>
        <p:spPr>
          <a:xfrm>
            <a:off x="247300" y="864987"/>
            <a:ext cx="8424000" cy="3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749"/>
              </a:spcBef>
              <a:spcAft>
                <a:spcPts val="0"/>
              </a:spcAft>
              <a:buSzPts val="1200"/>
              <a:buChar char="❏"/>
            </a:pPr>
            <a:r>
              <a:rPr lang="de-DE" sz="1200"/>
              <a:t>Introduction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de-DE" sz="1200"/>
              <a:t>Feature Reduction Architectures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de-DE" sz="1200"/>
              <a:t>Linear</a:t>
            </a:r>
            <a:r>
              <a:rPr lang="de-DE" sz="1200"/>
              <a:t> </a:t>
            </a:r>
            <a:endParaRPr sz="1200"/>
          </a:p>
          <a:p>
            <a:pPr indent="-3048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de-DE" sz="1200"/>
              <a:t>LLE</a:t>
            </a:r>
            <a:endParaRPr sz="1200"/>
          </a:p>
          <a:p>
            <a:pPr indent="-3048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de-DE" sz="1200"/>
              <a:t>PCA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de-DE" sz="1200"/>
              <a:t>Non-linear</a:t>
            </a:r>
            <a:endParaRPr sz="1200"/>
          </a:p>
          <a:p>
            <a:pPr indent="-3048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de-DE" sz="1200"/>
              <a:t>Variational Autoencoders</a:t>
            </a:r>
            <a:endParaRPr sz="1200"/>
          </a:p>
          <a:p>
            <a:pPr indent="-3048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de-DE" sz="1200"/>
              <a:t>Deep Learning Classification (LSTM + ResNet)</a:t>
            </a:r>
            <a:endParaRPr sz="1200"/>
          </a:p>
          <a:p>
            <a:pPr indent="-3048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de-DE" sz="1200"/>
              <a:t>Hybrid</a:t>
            </a:r>
            <a:r>
              <a:rPr lang="de-DE" sz="1200"/>
              <a:t> Autoencoder (LSTM + CNN)</a:t>
            </a:r>
            <a:endParaRPr b="1" sz="1200">
              <a:solidFill>
                <a:srgbClr val="0068B4"/>
              </a:solidFill>
            </a:endParaRPr>
          </a:p>
          <a:p>
            <a:pPr indent="-3048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de-DE" sz="1200"/>
              <a:t>Transformer-based Autoencoder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de-DE" sz="1200"/>
              <a:t>Project Timeline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de-DE" sz="1200"/>
              <a:t>Future Work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de-DE" sz="1200"/>
              <a:t>References</a:t>
            </a:r>
            <a:endParaRPr sz="1200"/>
          </a:p>
        </p:txBody>
      </p:sp>
      <p:sp>
        <p:nvSpPr>
          <p:cNvPr id="195" name="Google Shape;195;p14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96" name="Google Shape;196;p14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de-DE"/>
              <a:t>Contents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>
            <p:ph idx="1" type="body"/>
          </p:nvPr>
        </p:nvSpPr>
        <p:spPr>
          <a:xfrm>
            <a:off x="215275" y="727450"/>
            <a:ext cx="43566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❏"/>
            </a:pPr>
            <a:r>
              <a:rPr b="1" lang="de-DE" sz="1200">
                <a:latin typeface="Nunito"/>
                <a:ea typeface="Nunito"/>
                <a:cs typeface="Nunito"/>
                <a:sym typeface="Nunito"/>
              </a:rPr>
              <a:t>Feature Reduction/Dimensionality Reduction :</a:t>
            </a:r>
            <a:r>
              <a:rPr lang="de-DE" sz="1200">
                <a:latin typeface="Nunito Medium"/>
                <a:ea typeface="Nunito Medium"/>
                <a:cs typeface="Nunito Medium"/>
                <a:sym typeface="Nunito Medium"/>
              </a:rPr>
              <a:t>  process of reducing the number of input variables (features) in a dataset.</a:t>
            </a:r>
            <a:br>
              <a:rPr lang="de-DE" sz="1200">
                <a:latin typeface="Nunito Medium"/>
                <a:ea typeface="Nunito Medium"/>
                <a:cs typeface="Nunito Medium"/>
                <a:sym typeface="Nunito Medium"/>
              </a:rPr>
            </a:br>
            <a:endParaRPr sz="1200"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1200"/>
              <a:buChar char="❏"/>
            </a:pPr>
            <a:r>
              <a:rPr lang="de-DE" sz="1200">
                <a:solidFill>
                  <a:srgbClr val="101010"/>
                </a:solidFill>
                <a:highlight>
                  <a:schemeClr val="lt1"/>
                </a:highlight>
                <a:latin typeface="Nunito Medium"/>
                <a:ea typeface="Nunito Medium"/>
                <a:cs typeface="Nunito Medium"/>
                <a:sym typeface="Nunito Medium"/>
              </a:rPr>
              <a:t>A crucial step in the </a:t>
            </a:r>
            <a:r>
              <a:rPr b="1" lang="de-DE" sz="1200">
                <a:solidFill>
                  <a:srgbClr val="101010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data preprocessing</a:t>
            </a:r>
            <a:r>
              <a:rPr lang="de-DE" sz="1200">
                <a:solidFill>
                  <a:srgbClr val="101010"/>
                </a:solidFill>
                <a:highlight>
                  <a:schemeClr val="lt1"/>
                </a:highlight>
                <a:latin typeface="Nunito Medium"/>
                <a:ea typeface="Nunito Medium"/>
                <a:cs typeface="Nunito Medium"/>
                <a:sym typeface="Nunito Medium"/>
              </a:rPr>
              <a:t> for machine learning.</a:t>
            </a:r>
            <a:br>
              <a:rPr lang="de-DE" sz="1200">
                <a:solidFill>
                  <a:srgbClr val="101010"/>
                </a:solidFill>
                <a:highlight>
                  <a:schemeClr val="lt1"/>
                </a:highlight>
                <a:latin typeface="Nunito Medium"/>
                <a:ea typeface="Nunito Medium"/>
                <a:cs typeface="Nunito Medium"/>
                <a:sym typeface="Nunito Medium"/>
              </a:rPr>
            </a:br>
            <a:endParaRPr sz="1200">
              <a:solidFill>
                <a:srgbClr val="101010"/>
              </a:solidFill>
              <a:highlight>
                <a:schemeClr val="lt1"/>
              </a:highlight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1200"/>
              <a:buChar char="❏"/>
            </a:pPr>
            <a:r>
              <a:rPr lang="de-DE" sz="1200">
                <a:solidFill>
                  <a:srgbClr val="101010"/>
                </a:solidFill>
                <a:highlight>
                  <a:schemeClr val="lt1"/>
                </a:highlight>
                <a:latin typeface="Nunito Medium"/>
                <a:ea typeface="Nunito Medium"/>
                <a:cs typeface="Nunito Medium"/>
                <a:sym typeface="Nunito Medium"/>
              </a:rPr>
              <a:t>Primary goal - </a:t>
            </a:r>
            <a:r>
              <a:rPr b="1" lang="de-DE" sz="1200">
                <a:solidFill>
                  <a:srgbClr val="101010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simplify the dataset</a:t>
            </a:r>
            <a:r>
              <a:rPr lang="de-DE" sz="1200">
                <a:solidFill>
                  <a:srgbClr val="101010"/>
                </a:solidFill>
                <a:highlight>
                  <a:schemeClr val="lt1"/>
                </a:highlight>
                <a:latin typeface="Nunito Medium"/>
                <a:ea typeface="Nunito Medium"/>
                <a:cs typeface="Nunito Medium"/>
                <a:sym typeface="Nunito Medium"/>
              </a:rPr>
              <a:t> while retaining its </a:t>
            </a:r>
            <a:r>
              <a:rPr b="1" lang="de-DE" sz="1200">
                <a:solidFill>
                  <a:srgbClr val="101010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essential characteristics.</a:t>
            </a:r>
            <a:br>
              <a:rPr b="1" lang="de-DE" sz="1200">
                <a:solidFill>
                  <a:srgbClr val="101010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</a:br>
            <a:endParaRPr b="1" sz="1200">
              <a:solidFill>
                <a:srgbClr val="101010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1200"/>
              <a:buChar char="❏"/>
            </a:pPr>
            <a:r>
              <a:rPr b="1" lang="de-DE" sz="1200">
                <a:solidFill>
                  <a:srgbClr val="101010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Ex: Weather Dataset</a:t>
            </a:r>
            <a:r>
              <a:rPr lang="de-DE" sz="1200">
                <a:solidFill>
                  <a:srgbClr val="101010"/>
                </a:solidFill>
                <a:highlight>
                  <a:schemeClr val="lt1"/>
                </a:highlight>
                <a:latin typeface="Nunito Medium"/>
                <a:ea typeface="Nunito Medium"/>
                <a:cs typeface="Nunito Medium"/>
                <a:sym typeface="Nunito Medium"/>
              </a:rPr>
              <a:t> </a:t>
            </a:r>
            <a:r>
              <a:rPr b="1" lang="de-DE" sz="1200">
                <a:solidFill>
                  <a:srgbClr val="101010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(Temp, Humidity, Dew point, Rainfall, Wind Speed, Weather Type)</a:t>
            </a:r>
            <a:endParaRPr b="1" sz="1200">
              <a:solidFill>
                <a:srgbClr val="101010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1200"/>
              <a:buChar char="❏"/>
            </a:pPr>
            <a:r>
              <a:rPr b="1" lang="de-DE" sz="1200">
                <a:solidFill>
                  <a:srgbClr val="101010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Humidity</a:t>
            </a:r>
            <a:r>
              <a:rPr lang="de-DE" sz="1200">
                <a:solidFill>
                  <a:srgbClr val="101010"/>
                </a:solidFill>
                <a:highlight>
                  <a:schemeClr val="lt1"/>
                </a:highlight>
                <a:latin typeface="Nunito Medium"/>
                <a:ea typeface="Nunito Medium"/>
                <a:cs typeface="Nunito Medium"/>
                <a:sym typeface="Nunito Medium"/>
              </a:rPr>
              <a:t> and </a:t>
            </a:r>
            <a:r>
              <a:rPr b="1" lang="de-DE" sz="1200">
                <a:solidFill>
                  <a:srgbClr val="101010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Dew point </a:t>
            </a:r>
            <a:r>
              <a:rPr lang="de-DE" sz="1200">
                <a:solidFill>
                  <a:srgbClr val="101010"/>
                </a:solidFill>
                <a:highlight>
                  <a:schemeClr val="lt1"/>
                </a:highlight>
                <a:latin typeface="Nunito Medium"/>
                <a:ea typeface="Nunito Medium"/>
                <a:cs typeface="Nunito Medium"/>
                <a:sym typeface="Nunito Medium"/>
              </a:rPr>
              <a:t>are highly correlated.</a:t>
            </a:r>
            <a:endParaRPr sz="1200">
              <a:solidFill>
                <a:srgbClr val="101010"/>
              </a:solidFill>
              <a:highlight>
                <a:schemeClr val="lt1"/>
              </a:highlight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1200"/>
              <a:buChar char="❏"/>
            </a:pPr>
            <a:r>
              <a:rPr lang="de-DE" sz="1200">
                <a:solidFill>
                  <a:srgbClr val="101010"/>
                </a:solidFill>
                <a:highlight>
                  <a:schemeClr val="lt1"/>
                </a:highlight>
                <a:latin typeface="Nunito Medium"/>
                <a:ea typeface="Nunito Medium"/>
                <a:cs typeface="Nunito Medium"/>
                <a:sym typeface="Nunito Medium"/>
              </a:rPr>
              <a:t>Remove </a:t>
            </a:r>
            <a:r>
              <a:rPr b="1" lang="de-DE" sz="1200">
                <a:solidFill>
                  <a:srgbClr val="101010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Dew point</a:t>
            </a:r>
            <a:r>
              <a:rPr lang="de-DE" sz="1200">
                <a:solidFill>
                  <a:srgbClr val="101010"/>
                </a:solidFill>
                <a:highlight>
                  <a:schemeClr val="lt1"/>
                </a:highlight>
                <a:latin typeface="Nunito Medium"/>
                <a:ea typeface="Nunito Medium"/>
                <a:cs typeface="Nunito Medium"/>
                <a:sym typeface="Nunito Medium"/>
              </a:rPr>
              <a:t> feature.</a:t>
            </a:r>
            <a:endParaRPr sz="1200">
              <a:solidFill>
                <a:srgbClr val="101010"/>
              </a:solidFill>
              <a:highlight>
                <a:schemeClr val="lt1"/>
              </a:highlight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1200"/>
              <a:buChar char="❏"/>
            </a:pPr>
            <a:r>
              <a:rPr lang="de-DE" sz="1200">
                <a:solidFill>
                  <a:srgbClr val="101010"/>
                </a:solidFill>
                <a:highlight>
                  <a:schemeClr val="lt1"/>
                </a:highlight>
                <a:latin typeface="Nunito Medium"/>
                <a:ea typeface="Nunito Medium"/>
                <a:cs typeface="Nunito Medium"/>
                <a:sym typeface="Nunito Medium"/>
              </a:rPr>
              <a:t>Predict </a:t>
            </a:r>
            <a:r>
              <a:rPr b="1" lang="de-DE" sz="1200">
                <a:solidFill>
                  <a:srgbClr val="101010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Weather Type as Sunny, Rainy or Foggy </a:t>
            </a:r>
            <a:r>
              <a:rPr lang="de-DE" sz="1200">
                <a:solidFill>
                  <a:srgbClr val="101010"/>
                </a:solidFill>
                <a:highlight>
                  <a:schemeClr val="lt1"/>
                </a:highlight>
                <a:latin typeface="Nunito Medium"/>
                <a:ea typeface="Nunito Medium"/>
                <a:cs typeface="Nunito Medium"/>
                <a:sym typeface="Nunito Medium"/>
              </a:rPr>
              <a:t>based on other features.</a:t>
            </a:r>
            <a:endParaRPr sz="135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03" name="Google Shape;203;p15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04" name="Google Shape;204;p15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de-DE"/>
              <a:t>Introduction</a:t>
            </a:r>
            <a:endParaRPr/>
          </a:p>
        </p:txBody>
      </p:sp>
      <p:pic>
        <p:nvPicPr>
          <p:cNvPr id="205" name="Google Shape;205;p15" title="tryF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4200" y="672600"/>
            <a:ext cx="4197400" cy="367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5"/>
          <p:cNvSpPr txBox="1"/>
          <p:nvPr/>
        </p:nvSpPr>
        <p:spPr>
          <a:xfrm>
            <a:off x="5851750" y="4342800"/>
            <a:ext cx="23553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Figure 1 : Feature Reduction </a:t>
            </a:r>
            <a:endParaRPr sz="900"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5">
              <a:solidFill>
                <a:schemeClr val="dk1"/>
              </a:solidFill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5451150" y="4669200"/>
            <a:ext cx="3408000" cy="5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de-DE" sz="700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https://deepai.org/machine-learning-glossary-and-terms/feature-reduction</a:t>
            </a:r>
            <a:endParaRPr sz="700"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4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 txBox="1"/>
          <p:nvPr>
            <p:ph idx="1" type="body"/>
          </p:nvPr>
        </p:nvSpPr>
        <p:spPr>
          <a:xfrm>
            <a:off x="360000" y="677750"/>
            <a:ext cx="8499300" cy="413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200"/>
              <a:t>Goal: </a:t>
            </a:r>
            <a:r>
              <a:rPr lang="de-DE" sz="1200"/>
              <a:t>To develop a </a:t>
            </a:r>
            <a:r>
              <a:rPr b="1" lang="de-DE" sz="1200"/>
              <a:t>deep learning-based compression method (VAE)</a:t>
            </a:r>
            <a:r>
              <a:rPr lang="de-DE" sz="1200"/>
              <a:t> for reducing the dimensionality of long ECG time series while maintaining the signal’s critical characteristics for classification and reconstruction.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200"/>
              <a:t>Datasets used:</a:t>
            </a:r>
            <a:r>
              <a:rPr lang="de-DE" sz="1200"/>
              <a:t> </a:t>
            </a:r>
            <a:r>
              <a:rPr b="1" lang="de-DE" sz="1100"/>
              <a:t>PTB-XL ECG </a:t>
            </a:r>
            <a:endParaRPr b="1" sz="1100"/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-DE" sz="1100"/>
              <a:t>A large-scale public dataset of </a:t>
            </a:r>
            <a:r>
              <a:rPr b="1" lang="de-DE" sz="1100"/>
              <a:t>12-lead ECG recordings</a:t>
            </a:r>
            <a:r>
              <a:rPr lang="de-DE" sz="1100"/>
              <a:t>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-DE" sz="1100"/>
              <a:t>Each ECG signal has </a:t>
            </a:r>
            <a:r>
              <a:rPr b="1" lang="de-DE" sz="1100"/>
              <a:t>10 seconds of data sampled at 500 Hz</a:t>
            </a:r>
            <a:r>
              <a:rPr lang="de-DE" sz="1100"/>
              <a:t>, resulting in </a:t>
            </a:r>
            <a:r>
              <a:rPr b="1" lang="de-DE" sz="1100"/>
              <a:t>60,000 data points per recording</a:t>
            </a:r>
            <a:r>
              <a:rPr lang="de-DE" sz="1100"/>
              <a:t>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-DE" sz="1100"/>
              <a:t>Labels include multiple cardiovascular diagnoses.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100"/>
              <a:t>Results:</a:t>
            </a:r>
            <a:endParaRPr b="1"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-DE" sz="1100"/>
              <a:t>AE achieved </a:t>
            </a:r>
            <a:r>
              <a:rPr b="1" lang="de-DE" sz="1100"/>
              <a:t>up to 90% compression</a:t>
            </a:r>
            <a:r>
              <a:rPr lang="de-DE" sz="1100"/>
              <a:t> with low reconstruction error.</a:t>
            </a:r>
            <a:endParaRPr sz="1100"/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de-DE" sz="1100"/>
              <a:t>Outperformed PCA and Wavelet in retaining signal quality.</a:t>
            </a:r>
            <a:endParaRPr sz="12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4" name="Google Shape;214;p16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15" name="Google Shape;215;p16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Variational Autoencoder (VAE)</a:t>
            </a:r>
            <a:endParaRPr baseline="30000">
              <a:solidFill>
                <a:srgbClr val="0E0E0E"/>
              </a:solidFill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7291375" y="4532750"/>
            <a:ext cx="1567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700" u="sng">
                <a:solidFill>
                  <a:schemeClr val="hlink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https://arxiv.org/pdf/2204.11060</a:t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/>
          <p:cNvSpPr txBox="1"/>
          <p:nvPr>
            <p:ph idx="1" type="body"/>
          </p:nvPr>
        </p:nvSpPr>
        <p:spPr>
          <a:xfrm>
            <a:off x="360000" y="817475"/>
            <a:ext cx="8424000" cy="364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200"/>
              <a:t>Relevance to CNC Dataset: </a:t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Compresses 52 control signals (like </a:t>
            </a:r>
            <a:r>
              <a:rPr lang="de-DE" sz="1200">
                <a:solidFill>
                  <a:srgbClr val="188038"/>
                </a:solidFill>
              </a:rPr>
              <a:t>TORQUE</a:t>
            </a:r>
            <a:r>
              <a:rPr lang="de-DE" sz="1200"/>
              <a:t>, </a:t>
            </a:r>
            <a:r>
              <a:rPr lang="de-DE" sz="1200">
                <a:solidFill>
                  <a:srgbClr val="188038"/>
                </a:solidFill>
              </a:rPr>
              <a:t>ENC_POS</a:t>
            </a:r>
            <a:r>
              <a:rPr lang="de-DE" sz="1200"/>
              <a:t>) into low-dimensional vectors.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Helps in </a:t>
            </a:r>
            <a:r>
              <a:rPr b="1" lang="de-DE" sz="1200"/>
              <a:t>predicting current</a:t>
            </a:r>
            <a:r>
              <a:rPr lang="de-DE" sz="1200"/>
              <a:t>, </a:t>
            </a:r>
            <a:r>
              <a:rPr b="1" lang="de-DE" sz="1200"/>
              <a:t>anomaly detection</a:t>
            </a:r>
            <a:r>
              <a:rPr lang="de-DE" sz="1200"/>
              <a:t>, or </a:t>
            </a:r>
            <a:r>
              <a:rPr b="1" lang="de-DE" sz="1200"/>
              <a:t>data storage</a:t>
            </a:r>
            <a:r>
              <a:rPr lang="de-DE" sz="1200"/>
              <a:t>.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200"/>
              <a:t>Advantages:</a:t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Captures </a:t>
            </a:r>
            <a:r>
              <a:rPr b="1" lang="de-DE" sz="1200"/>
              <a:t>nonlinear patterns</a:t>
            </a:r>
            <a:r>
              <a:rPr lang="de-DE" sz="1200"/>
              <a:t> across sensor signals.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Learns </a:t>
            </a:r>
            <a:r>
              <a:rPr b="1" lang="de-DE" sz="1200"/>
              <a:t>robust, compact features</a:t>
            </a:r>
            <a:r>
              <a:rPr lang="de-DE" sz="1200"/>
              <a:t> automatically.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200"/>
              <a:t>Disadvantages:</a:t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Needs </a:t>
            </a:r>
            <a:r>
              <a:rPr b="1" lang="de-DE" sz="1200"/>
              <a:t>large data</a:t>
            </a:r>
            <a:r>
              <a:rPr lang="de-DE" sz="1200"/>
              <a:t> and </a:t>
            </a:r>
            <a:r>
              <a:rPr b="1" lang="de-DE" sz="1200"/>
              <a:t>long training times</a:t>
            </a:r>
            <a:r>
              <a:rPr lang="de-DE" sz="1200"/>
              <a:t>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Latent features are </a:t>
            </a:r>
            <a:r>
              <a:rPr b="1" lang="de-DE" sz="1200"/>
              <a:t>not easily interpretable</a:t>
            </a:r>
            <a:r>
              <a:rPr lang="de-DE" sz="1200"/>
              <a:t>.</a:t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3" name="Google Shape;223;p17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24" name="Google Shape;224;p17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Variational Autoencoder (VAE)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 txBox="1"/>
          <p:nvPr>
            <p:ph idx="1" type="body"/>
          </p:nvPr>
        </p:nvSpPr>
        <p:spPr>
          <a:xfrm>
            <a:off x="139775" y="742200"/>
            <a:ext cx="8842200" cy="41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200"/>
              <a:t>Goal: </a:t>
            </a:r>
            <a:r>
              <a:rPr lang="de-DE" sz="1200"/>
              <a:t>To design an </a:t>
            </a:r>
            <a:r>
              <a:rPr b="1" lang="de-DE" sz="1200"/>
              <a:t>interoperable and automated system</a:t>
            </a:r>
            <a:r>
              <a:rPr lang="de-DE" sz="1200"/>
              <a:t> that classifies, labels, and maps raw control and sensor signals in </a:t>
            </a:r>
            <a:r>
              <a:rPr b="1" lang="de-DE" sz="1200"/>
              <a:t>CNC machine environments</a:t>
            </a:r>
            <a:r>
              <a:rPr lang="de-DE" sz="1200"/>
              <a:t> using a combination of deep learning and rule-based techniques.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200"/>
              <a:t>Dataset Used: Industrial CNC Machine Data (CMX &amp; DMC machines)</a:t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Multivariate sensor data from real </a:t>
            </a:r>
            <a:r>
              <a:rPr b="1" lang="de-DE" sz="1200"/>
              <a:t>brownfield CNC machines</a:t>
            </a:r>
            <a:r>
              <a:rPr lang="de-DE" sz="1200"/>
              <a:t>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Includes signals such as </a:t>
            </a:r>
            <a:r>
              <a:rPr lang="de-DE" sz="1200">
                <a:solidFill>
                  <a:srgbClr val="188038"/>
                </a:solidFill>
              </a:rPr>
              <a:t>LOAD</a:t>
            </a:r>
            <a:r>
              <a:rPr lang="de-DE" sz="1200"/>
              <a:t>, </a:t>
            </a:r>
            <a:r>
              <a:rPr lang="de-DE" sz="1200">
                <a:solidFill>
                  <a:srgbClr val="188038"/>
                </a:solidFill>
              </a:rPr>
              <a:t>ENC_POS</a:t>
            </a:r>
            <a:r>
              <a:rPr lang="de-DE" sz="1200"/>
              <a:t>, </a:t>
            </a:r>
            <a:r>
              <a:rPr lang="de-DE" sz="1200">
                <a:solidFill>
                  <a:srgbClr val="188038"/>
                </a:solidFill>
              </a:rPr>
              <a:t>TORQUE</a:t>
            </a:r>
            <a:r>
              <a:rPr lang="de-DE" sz="1200"/>
              <a:t>, </a:t>
            </a:r>
            <a:r>
              <a:rPr lang="de-DE" sz="1200">
                <a:solidFill>
                  <a:srgbClr val="188038"/>
                </a:solidFill>
              </a:rPr>
              <a:t>CTRL_DIFF</a:t>
            </a:r>
            <a:r>
              <a:rPr lang="de-DE" sz="1200"/>
              <a:t>, </a:t>
            </a:r>
            <a:r>
              <a:rPr lang="de-DE" sz="1200">
                <a:solidFill>
                  <a:srgbClr val="188038"/>
                </a:solidFill>
              </a:rPr>
              <a:t>CMD_SPEED</a:t>
            </a:r>
            <a:r>
              <a:rPr lang="de-DE" sz="1200"/>
              <a:t>, etc.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Covers different </a:t>
            </a:r>
            <a:r>
              <a:rPr b="1" lang="de-DE" sz="1200"/>
              <a:t>materials (Aluminum, Steel)</a:t>
            </a:r>
            <a:r>
              <a:rPr lang="de-DE" sz="1200"/>
              <a:t> and </a:t>
            </a:r>
            <a:r>
              <a:rPr b="1" lang="de-DE" sz="1200"/>
              <a:t>components</a:t>
            </a:r>
            <a:r>
              <a:rPr lang="de-DE" sz="1200"/>
              <a:t>.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200"/>
              <a:t>Results:</a:t>
            </a:r>
            <a:endParaRPr b="1" sz="12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Achieved </a:t>
            </a:r>
            <a:r>
              <a:rPr b="1" lang="de-DE" sz="1200"/>
              <a:t>accurate signal classification</a:t>
            </a:r>
            <a:r>
              <a:rPr lang="de-DE" sz="1200"/>
              <a:t> across CNC axes using LSTM and ResNet.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Improved </a:t>
            </a:r>
            <a:r>
              <a:rPr b="1" lang="de-DE" sz="1200"/>
              <a:t>signal interpretability and usability</a:t>
            </a:r>
            <a:r>
              <a:rPr lang="de-DE" sz="1200"/>
              <a:t> through hybrid ML + rule-based mapping.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de-DE" sz="1200"/>
            </a:br>
            <a:r>
              <a:rPr b="1" lang="de-DE" sz="1200"/>
              <a:t> 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1" name="Google Shape;231;p18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32" name="Google Shape;232;p18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Deep Learning Classification (LSTM, ResNet)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5746500" y="4633500"/>
            <a:ext cx="312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700" u="sng">
                <a:solidFill>
                  <a:schemeClr val="hlink"/>
                </a:solidFill>
                <a:highlight>
                  <a:schemeClr val="lt1"/>
                </a:highlight>
                <a:hlinkClick r:id="rId3"/>
              </a:rPr>
              <a:t>https://www.sciencedirect.com/science/article/pii/S2213846323000676</a:t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/>
          <p:nvPr>
            <p:ph idx="1" type="body"/>
          </p:nvPr>
        </p:nvSpPr>
        <p:spPr>
          <a:xfrm>
            <a:off x="360000" y="994677"/>
            <a:ext cx="8424000" cy="3767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200"/>
              <a:t> </a:t>
            </a:r>
            <a:r>
              <a:rPr b="1" lang="de-DE" sz="1200"/>
              <a:t>Relevance to CNC Dataset: </a:t>
            </a:r>
            <a:r>
              <a:rPr lang="de-DE" sz="1100"/>
              <a:t>This paper uses the </a:t>
            </a:r>
            <a:r>
              <a:rPr b="1" lang="de-DE" sz="1100"/>
              <a:t>exact same CNC dataset and machine types</a:t>
            </a:r>
            <a:r>
              <a:rPr lang="de-DE" sz="1100"/>
              <a:t> we are using and helps identify which features to retain or drop — a form of practical feature reduction.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200"/>
              <a:t> Advantages:</a:t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Works </a:t>
            </a:r>
            <a:r>
              <a:rPr b="1" lang="de-DE" sz="1200"/>
              <a:t>directly on our exact machine setup</a:t>
            </a:r>
            <a:r>
              <a:rPr lang="de-DE" sz="1200"/>
              <a:t>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Improves </a:t>
            </a:r>
            <a:r>
              <a:rPr b="1" lang="de-DE" sz="1200"/>
              <a:t>interpretability</a:t>
            </a:r>
            <a:r>
              <a:rPr lang="de-DE" sz="1200"/>
              <a:t> by linking signals to machine components.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Supports hybrid ML + rule-based approach.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200"/>
              <a:t> Disadvantages:</a:t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Needs </a:t>
            </a:r>
            <a:r>
              <a:rPr b="1" lang="de-DE" sz="1200"/>
              <a:t>domain knowledge</a:t>
            </a:r>
            <a:r>
              <a:rPr lang="de-DE" sz="1200"/>
              <a:t> to fine-tune mappings.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May not generalize easily to new machines.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ML model training depends on quality of labeled signals.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0" name="Google Shape;240;p19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41" name="Google Shape;241;p19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Deep Learning Classification (LSTM, ResNet)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"/>
          <p:cNvSpPr txBox="1"/>
          <p:nvPr>
            <p:ph idx="1" type="body"/>
          </p:nvPr>
        </p:nvSpPr>
        <p:spPr>
          <a:xfrm>
            <a:off x="151375" y="777225"/>
            <a:ext cx="8707800" cy="406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200"/>
              <a:t>Goal:  </a:t>
            </a:r>
            <a:r>
              <a:rPr lang="de-DE" sz="1200"/>
              <a:t>PCA remains highly effective for dimensionality reduction — particularly in improving the performance, speed, and stability of deep learning models when dealing with long multivariate sequences.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200"/>
              <a:t>Dataset used: </a:t>
            </a:r>
            <a:r>
              <a:rPr lang="de-DE" sz="1200"/>
              <a:t>PCA was tested on time-series data from sources like electricity usage, weather, and traffic — all real-world signals that change over time and involve lots of variables, just like CNC machine data.</a:t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de-DE" sz="1200"/>
              <a:t> Results:</a:t>
            </a:r>
            <a:endParaRPr b="1" sz="1200"/>
          </a:p>
          <a:p>
            <a:pPr indent="-3048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PCA was tested with deep learning models like RNNs, CNNs, and Transformers.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It reduced </a:t>
            </a:r>
            <a:r>
              <a:rPr b="1" lang="de-DE" sz="1200"/>
              <a:t>training time by 20–60%</a:t>
            </a:r>
            <a:r>
              <a:rPr lang="de-DE" sz="1200"/>
              <a:t>, lowered memory use, and </a:t>
            </a:r>
            <a:r>
              <a:rPr b="1" lang="de-DE" sz="1200"/>
              <a:t>kept or improved model accuracy</a:t>
            </a:r>
            <a:r>
              <a:rPr lang="de-DE" sz="1200"/>
              <a:t>.</a:t>
            </a:r>
            <a:endParaRPr sz="1200"/>
          </a:p>
          <a:p>
            <a:pPr indent="-3048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Even with fewer time steps or features, </a:t>
            </a:r>
            <a:r>
              <a:rPr b="1" lang="de-DE" sz="1200"/>
              <a:t>key trends and peaks in the signal were preserved</a:t>
            </a:r>
            <a:r>
              <a:rPr lang="de-DE" sz="1200"/>
              <a:t>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1200"/>
              <a:t>Relevance to CNC Data: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E0E0E"/>
              </a:buClr>
              <a:buSzPts val="1200"/>
              <a:buChar char="•"/>
            </a:pPr>
            <a:r>
              <a:rPr lang="de-DE" sz="1200">
                <a:solidFill>
                  <a:srgbClr val="0E0E0E"/>
                </a:solidFill>
              </a:rPr>
              <a:t>Reduces 52+ sensor features into a smaller, manageable set</a:t>
            </a:r>
            <a:endParaRPr sz="1200">
              <a:solidFill>
                <a:srgbClr val="0E0E0E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Char char="•"/>
            </a:pPr>
            <a:r>
              <a:rPr lang="de-DE" sz="1200">
                <a:solidFill>
                  <a:srgbClr val="0E0E0E"/>
                </a:solidFill>
              </a:rPr>
              <a:t>Reduces correlated signals (e.g., torque, load, speed) into fewer uncorrelated components</a:t>
            </a:r>
            <a:endParaRPr sz="1200">
              <a:solidFill>
                <a:srgbClr val="0E0E0E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Char char="•"/>
            </a:pPr>
            <a:r>
              <a:rPr lang="de-DE" sz="1200">
                <a:solidFill>
                  <a:srgbClr val="0E0E0E"/>
                </a:solidFill>
              </a:rPr>
              <a:t>Captures dominant patterns in machine behavior with minimal information loss</a:t>
            </a:r>
            <a:endParaRPr sz="1200">
              <a:solidFill>
                <a:srgbClr val="0E0E0E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Char char="•"/>
            </a:pPr>
            <a:r>
              <a:rPr lang="de-DE" sz="1200">
                <a:solidFill>
                  <a:srgbClr val="0E0E0E"/>
                </a:solidFill>
              </a:rPr>
              <a:t>Improves efficiency of models used for predicting spindle current, tool wear, or process stability</a:t>
            </a:r>
            <a:endParaRPr sz="1200">
              <a:solidFill>
                <a:srgbClr val="0E0E0E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-DE" sz="1200"/>
              <a:t>                                   </a:t>
            </a:r>
            <a:r>
              <a:rPr lang="de-DE" sz="900"/>
              <a:t> 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-DE" sz="1200"/>
              <a:t> </a:t>
            </a:r>
            <a:endParaRPr sz="1200"/>
          </a:p>
        </p:txBody>
      </p:sp>
      <p:sp>
        <p:nvSpPr>
          <p:cNvPr id="248" name="Google Shape;248;p20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49" name="Google Shape;249;p20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Principal Component Analysis (PCA)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7335175" y="4401750"/>
            <a:ext cx="15240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700" u="sng">
                <a:solidFill>
                  <a:schemeClr val="hlink"/>
                </a:solidFill>
                <a:hlinkClick r:id="rId3"/>
              </a:rPr>
              <a:t>arXiv:2412.19423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 txBox="1"/>
          <p:nvPr>
            <p:ph idx="1" type="body"/>
          </p:nvPr>
        </p:nvSpPr>
        <p:spPr>
          <a:xfrm>
            <a:off x="49175" y="1018875"/>
            <a:ext cx="8734800" cy="37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None/>
            </a:pPr>
            <a:r>
              <a:rPr b="1" lang="de-DE" sz="1200"/>
              <a:t>Advantages:</a:t>
            </a:r>
            <a:endParaRPr b="1" sz="1200"/>
          </a:p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-304800" lvl="0" marL="45720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Clr>
                <a:srgbClr val="101010"/>
              </a:buClr>
              <a:buSzPts val="1200"/>
              <a:buChar char="●"/>
            </a:pPr>
            <a:r>
              <a:rPr lang="de-DE" sz="1200">
                <a:solidFill>
                  <a:srgbClr val="101010"/>
                </a:solidFill>
              </a:rPr>
              <a:t>Fast and easy to use</a:t>
            </a:r>
            <a:br>
              <a:rPr lang="de-DE" sz="1200">
                <a:solidFill>
                  <a:srgbClr val="101010"/>
                </a:solidFill>
              </a:rPr>
            </a:br>
            <a:endParaRPr sz="1200">
              <a:solidFill>
                <a:srgbClr val="101010"/>
              </a:solidFill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1200"/>
              <a:buChar char="●"/>
            </a:pPr>
            <a:r>
              <a:rPr lang="de-DE" sz="1200">
                <a:solidFill>
                  <a:srgbClr val="101010"/>
                </a:solidFill>
              </a:rPr>
              <a:t>Removes noise and redundant features</a:t>
            </a:r>
            <a:br>
              <a:rPr lang="de-DE" sz="1200">
                <a:solidFill>
                  <a:srgbClr val="101010"/>
                </a:solidFill>
              </a:rPr>
            </a:br>
            <a:endParaRPr sz="1200">
              <a:solidFill>
                <a:srgbClr val="101010"/>
              </a:solidFill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01010"/>
              </a:buClr>
              <a:buSzPts val="1200"/>
              <a:buChar char="●"/>
            </a:pPr>
            <a:r>
              <a:rPr lang="de-DE" sz="1200">
                <a:solidFill>
                  <a:srgbClr val="101010"/>
                </a:solidFill>
              </a:rPr>
              <a:t>Speeds up and stabilizes models</a:t>
            </a:r>
            <a:endParaRPr sz="1200">
              <a:solidFill>
                <a:srgbClr val="101010"/>
              </a:solidFill>
            </a:endParaRPr>
          </a:p>
          <a:p>
            <a:pPr indent="0" lvl="0" marL="45720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None/>
            </a:pPr>
            <a:r>
              <a:rPr b="1" lang="de-DE" sz="1200"/>
              <a:t>Disadvantages:</a:t>
            </a:r>
            <a:endParaRPr b="1" sz="1200"/>
          </a:p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Only works well when signals have </a:t>
            </a:r>
            <a:r>
              <a:rPr b="1" lang="de-DE" sz="1200"/>
              <a:t>linear </a:t>
            </a:r>
            <a:r>
              <a:rPr lang="de-DE" sz="1200"/>
              <a:t>relationships</a:t>
            </a:r>
            <a:br>
              <a:rPr lang="de-DE" sz="1200"/>
            </a:br>
            <a:endParaRPr sz="12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The new features it creates are hard to understand directly</a:t>
            </a:r>
            <a:br>
              <a:rPr lang="de-DE" sz="1200"/>
            </a:br>
            <a:endParaRPr sz="12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It may miss complex patterns between sensors (like torque and speed combined)</a:t>
            </a:r>
            <a:endParaRPr sz="120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de-DE" sz="1200"/>
            </a:br>
            <a:endParaRPr sz="120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/>
          </a:p>
          <a:p>
            <a:pPr indent="0" lvl="0" marL="45720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7" name="Google Shape;257;p21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58" name="Google Shape;258;p21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/>
              <a:t>Principal Component Analysis (PCA)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4700" y="1018875"/>
            <a:ext cx="2991776" cy="325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 txBox="1"/>
          <p:nvPr>
            <p:ph idx="1" type="body"/>
          </p:nvPr>
        </p:nvSpPr>
        <p:spPr>
          <a:xfrm>
            <a:off x="256275" y="754225"/>
            <a:ext cx="8527800" cy="412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4800"/>
              <a:t>Goal: </a:t>
            </a:r>
            <a:r>
              <a:rPr lang="de-DE" sz="4800"/>
              <a:t> Enhance traditional PCA by introducing </a:t>
            </a:r>
            <a:r>
              <a:rPr b="1" lang="de-DE" sz="4800"/>
              <a:t>kernel functions</a:t>
            </a:r>
            <a:r>
              <a:rPr lang="de-DE" sz="4800"/>
              <a:t> that allow it to capture </a:t>
            </a:r>
            <a:r>
              <a:rPr b="1" lang="de-DE" sz="4800"/>
              <a:t>nonlinear structures</a:t>
            </a:r>
            <a:r>
              <a:rPr lang="de-DE" sz="4800"/>
              <a:t> in data</a:t>
            </a:r>
            <a:endParaRPr sz="4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4800"/>
              <a:t>Dataset Used:</a:t>
            </a:r>
            <a:endParaRPr b="1"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4800"/>
              <a:t>Synthetic dataset:</a:t>
            </a:r>
            <a:endParaRPr sz="4800"/>
          </a:p>
          <a:p>
            <a:pPr indent="-304800" lvl="0" marL="457200" rtl="0" algn="l">
              <a:spcBef>
                <a:spcPts val="749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de-DE" sz="4800"/>
              <a:t>Swiss Roll</a:t>
            </a:r>
            <a:r>
              <a:rPr lang="de-DE" sz="4800"/>
              <a:t> and </a:t>
            </a:r>
            <a:r>
              <a:rPr b="1" lang="de-DE" sz="4800"/>
              <a:t>concentric circles</a:t>
            </a:r>
            <a:r>
              <a:rPr lang="de-DE" sz="4800"/>
              <a:t> — artificially created shapes that represent data lying on a </a:t>
            </a:r>
            <a:r>
              <a:rPr b="1" lang="de-DE" sz="4800"/>
              <a:t>nonlinear manifold</a:t>
            </a:r>
            <a:r>
              <a:rPr lang="de-DE" sz="4800"/>
              <a:t>.</a:t>
            </a:r>
            <a:endParaRPr sz="48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de-DE" sz="4800"/>
              <a:t>These examples helped demonstrate that KPCA could </a:t>
            </a:r>
            <a:r>
              <a:rPr b="1" lang="de-DE" sz="4800"/>
              <a:t>"unfold" curved data structures</a:t>
            </a:r>
            <a:r>
              <a:rPr lang="de-DE" sz="4800"/>
              <a:t> that regular PCA cannot handle.</a:t>
            </a:r>
            <a:br>
              <a:rPr lang="de-DE" sz="4800"/>
            </a:br>
            <a:endParaRPr sz="4800"/>
          </a:p>
          <a:p>
            <a:pPr indent="0" lvl="0" marL="457200" rtl="0" algn="l">
              <a:spcBef>
                <a:spcPts val="749"/>
              </a:spcBef>
              <a:spcAft>
                <a:spcPts val="0"/>
              </a:spcAft>
              <a:buNone/>
            </a:pPr>
            <a:r>
              <a:rPr b="1" lang="de-DE" sz="4800"/>
              <a:t>Real-world dataset</a:t>
            </a:r>
            <a:r>
              <a:rPr lang="de-DE" sz="4800"/>
              <a:t>:</a:t>
            </a:r>
            <a:endParaRPr sz="4800"/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E0E0E"/>
              </a:buClr>
              <a:buSzPct val="100000"/>
              <a:buChar char="●"/>
            </a:pPr>
            <a:r>
              <a:rPr lang="de-DE" sz="4800">
                <a:solidFill>
                  <a:srgbClr val="0E0E0E"/>
                </a:solidFill>
              </a:rPr>
              <a:t>The </a:t>
            </a:r>
            <a:r>
              <a:rPr b="1" lang="de-DE" sz="4800">
                <a:solidFill>
                  <a:srgbClr val="0E0E0E"/>
                </a:solidFill>
              </a:rPr>
              <a:t>MNIST digit dataset</a:t>
            </a:r>
            <a:r>
              <a:rPr lang="de-DE" sz="4800">
                <a:solidFill>
                  <a:srgbClr val="0E0E0E"/>
                </a:solidFill>
              </a:rPr>
              <a:t> — images of handwritten numbers where the pixel patterns form complex, nonlinear relationships.</a:t>
            </a:r>
            <a:endParaRPr sz="4800">
              <a:solidFill>
                <a:srgbClr val="0E0E0E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ct val="100000"/>
              <a:buChar char="●"/>
            </a:pPr>
            <a:r>
              <a:rPr lang="de-DE" sz="4800">
                <a:solidFill>
                  <a:srgbClr val="0E0E0E"/>
                </a:solidFill>
              </a:rPr>
              <a:t>KPCA was able </a:t>
            </a:r>
            <a:r>
              <a:rPr lang="de-DE" sz="4800">
                <a:solidFill>
                  <a:srgbClr val="0E0E0E"/>
                </a:solidFill>
              </a:rPr>
              <a:t>t</a:t>
            </a:r>
            <a:r>
              <a:rPr lang="de-DE" sz="4800">
                <a:solidFill>
                  <a:srgbClr val="0E0E0E"/>
                </a:solidFill>
              </a:rPr>
              <a:t>o better separate different digit classes compared to PCA by capturing </a:t>
            </a:r>
            <a:r>
              <a:rPr b="1" lang="de-DE" sz="4800">
                <a:solidFill>
                  <a:srgbClr val="0E0E0E"/>
                </a:solidFill>
              </a:rPr>
              <a:t>nonlinear variations in the images</a:t>
            </a:r>
            <a:r>
              <a:rPr lang="de-DE" sz="4800">
                <a:solidFill>
                  <a:srgbClr val="0E0E0E"/>
                </a:solidFill>
              </a:rPr>
              <a:t>.</a:t>
            </a:r>
            <a:endParaRPr sz="48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-DE" sz="4800">
                <a:solidFill>
                  <a:srgbClr val="0E0E0E"/>
                </a:solidFill>
              </a:rPr>
              <a:t>Relevance to CNC:</a:t>
            </a:r>
            <a:endParaRPr b="1" sz="4800">
              <a:solidFill>
                <a:srgbClr val="0E0E0E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de-DE" sz="4800"/>
              <a:t>Our CNC sensor data (like torque, speed, vibration) can have </a:t>
            </a:r>
            <a:r>
              <a:rPr b="1" lang="de-DE" sz="4800"/>
              <a:t>overlapping patterns</a:t>
            </a:r>
            <a:r>
              <a:rPr lang="de-DE" sz="4800"/>
              <a:t> across different machine states.</a:t>
            </a:r>
            <a:endParaRPr sz="48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de-DE" sz="4800"/>
              <a:t>Like digit shapes, these sensor patterns are </a:t>
            </a:r>
            <a:r>
              <a:rPr b="1" lang="de-DE" sz="4800"/>
              <a:t>complex and nonlinear</a:t>
            </a:r>
            <a:r>
              <a:rPr lang="de-DE" sz="4800"/>
              <a:t>.</a:t>
            </a:r>
            <a:endParaRPr sz="4800"/>
          </a:p>
          <a:p>
            <a:pPr indent="-2460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Char char="●"/>
            </a:pPr>
            <a:r>
              <a:rPr lang="de-DE" sz="4800"/>
              <a:t>KPCA helps </a:t>
            </a:r>
            <a:r>
              <a:rPr b="1" lang="de-DE" sz="4800"/>
              <a:t>separate those hidden states</a:t>
            </a:r>
            <a:r>
              <a:rPr lang="de-DE" sz="4800"/>
              <a:t> better than PCA — ideal for tasks like </a:t>
            </a:r>
            <a:r>
              <a:rPr b="1" lang="de-DE" sz="4800"/>
              <a:t>fault detection</a:t>
            </a:r>
            <a:r>
              <a:rPr lang="de-DE" sz="4800"/>
              <a:t> or </a:t>
            </a:r>
            <a:r>
              <a:rPr b="1" lang="de-DE" sz="4800"/>
              <a:t>mode classification</a:t>
            </a:r>
            <a:r>
              <a:rPr lang="de-DE" sz="4800"/>
              <a:t>.</a:t>
            </a:r>
            <a:br>
              <a:rPr lang="de-DE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E0E0E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6" name="Google Shape;266;p22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67" name="Google Shape;267;p22"/>
          <p:cNvSpPr txBox="1"/>
          <p:nvPr>
            <p:ph type="title"/>
          </p:nvPr>
        </p:nvSpPr>
        <p:spPr>
          <a:xfrm>
            <a:off x="0" y="0"/>
            <a:ext cx="5746500" cy="457800"/>
          </a:xfrm>
          <a:prstGeom prst="rect">
            <a:avLst/>
          </a:prstGeom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E63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de-DE" sz="1700">
                <a:solidFill>
                  <a:srgbClr val="0E63F0"/>
                </a:solidFill>
              </a:rPr>
              <a:t>Kernel PCA (KPCA)</a:t>
            </a:r>
            <a:endParaRPr sz="1700">
              <a:solidFill>
                <a:srgbClr val="0E63F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3600450" y="4665450"/>
            <a:ext cx="55914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700" u="sng">
                <a:solidFill>
                  <a:schemeClr val="hlink"/>
                </a:solidFill>
                <a:hlinkClick r:id="rId3"/>
              </a:rPr>
              <a:t>https://www.researchgate.net/publication/220500224_Nonlinear_Component_Analysis_as_a_Kernel_Eigenvalue_Problem</a:t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/>
          <p:cNvSpPr txBox="1"/>
          <p:nvPr>
            <p:ph idx="1" type="body"/>
          </p:nvPr>
        </p:nvSpPr>
        <p:spPr>
          <a:xfrm>
            <a:off x="129700" y="742700"/>
            <a:ext cx="8653200" cy="386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749"/>
              </a:spcBef>
              <a:spcAft>
                <a:spcPts val="0"/>
              </a:spcAft>
              <a:buNone/>
            </a:pPr>
            <a:r>
              <a:rPr b="1" lang="de-DE" sz="4800"/>
              <a:t>Results:</a:t>
            </a:r>
            <a:endParaRPr b="1" sz="4800"/>
          </a:p>
          <a:p>
            <a:pPr indent="-304800" lvl="0" marL="457200" rtl="0" algn="l">
              <a:spcBef>
                <a:spcPts val="749"/>
              </a:spcBef>
              <a:spcAft>
                <a:spcPts val="0"/>
              </a:spcAft>
              <a:buClr>
                <a:srgbClr val="0E0E0E"/>
              </a:buClr>
              <a:buSzPct val="100000"/>
              <a:buChar char="•"/>
            </a:pPr>
            <a:r>
              <a:rPr lang="de-DE" sz="4800"/>
              <a:t>KPCA successfully </a:t>
            </a:r>
            <a:r>
              <a:rPr b="1" lang="de-DE" sz="4800"/>
              <a:t>unfolded nonlinear structures</a:t>
            </a:r>
            <a:r>
              <a:rPr lang="de-DE" sz="4800"/>
              <a:t> in synthetic datasets (e.g., Swiss roll, concentric circles) that PCA could not.</a:t>
            </a:r>
            <a:br>
              <a:rPr lang="de-DE" sz="4800"/>
            </a:br>
            <a:endParaRPr sz="48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ct val="100000"/>
              <a:buChar char="•"/>
            </a:pPr>
            <a:r>
              <a:rPr lang="de-DE" sz="4800"/>
              <a:t>On the MNIST digit dataset, KPCA achieved </a:t>
            </a:r>
            <a:r>
              <a:rPr b="1" lang="de-DE" sz="4800"/>
              <a:t>better separation of digit classes</a:t>
            </a:r>
            <a:r>
              <a:rPr lang="de-DE" sz="4800"/>
              <a:t>, showing its strength in capturing complex, nonlinear variations in real-world data.</a:t>
            </a:r>
            <a:endParaRPr sz="48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de-DE" sz="4800"/>
              <a:t>Advantages:</a:t>
            </a:r>
            <a:endParaRPr b="1" sz="4800"/>
          </a:p>
          <a:p>
            <a:pPr indent="-3048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E0E0E"/>
              </a:buClr>
              <a:buSzPct val="100000"/>
              <a:buChar char="•"/>
            </a:pPr>
            <a:r>
              <a:rPr lang="de-DE" sz="4800">
                <a:solidFill>
                  <a:srgbClr val="0E0E0E"/>
                </a:solidFill>
              </a:rPr>
              <a:t>Captures </a:t>
            </a:r>
            <a:r>
              <a:rPr b="1" lang="de-DE" sz="4800">
                <a:solidFill>
                  <a:srgbClr val="0E0E0E"/>
                </a:solidFill>
              </a:rPr>
              <a:t>nonlinear relationships</a:t>
            </a:r>
            <a:r>
              <a:rPr lang="de-DE" sz="4800">
                <a:solidFill>
                  <a:srgbClr val="0E0E0E"/>
                </a:solidFill>
              </a:rPr>
              <a:t> between features</a:t>
            </a:r>
            <a:endParaRPr sz="4800">
              <a:solidFill>
                <a:srgbClr val="0E0E0E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ct val="100000"/>
              <a:buChar char="•"/>
            </a:pPr>
            <a:r>
              <a:rPr lang="de-DE" sz="4800">
                <a:solidFill>
                  <a:srgbClr val="0E0E0E"/>
                </a:solidFill>
              </a:rPr>
              <a:t>Reveals </a:t>
            </a:r>
            <a:r>
              <a:rPr b="1" lang="de-DE" sz="4800">
                <a:solidFill>
                  <a:srgbClr val="0E0E0E"/>
                </a:solidFill>
              </a:rPr>
              <a:t>hidden structure</a:t>
            </a:r>
            <a:r>
              <a:rPr lang="de-DE" sz="4800">
                <a:solidFill>
                  <a:srgbClr val="0E0E0E"/>
                </a:solidFill>
              </a:rPr>
              <a:t> in complex data</a:t>
            </a:r>
            <a:endParaRPr sz="4800">
              <a:solidFill>
                <a:srgbClr val="0E0E0E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ct val="100000"/>
              <a:buChar char="•"/>
            </a:pPr>
            <a:r>
              <a:rPr lang="de-DE" sz="4800">
                <a:solidFill>
                  <a:srgbClr val="0E0E0E"/>
                </a:solidFill>
              </a:rPr>
              <a:t>Improves feature separation for difficult datasets                                     </a:t>
            </a:r>
            <a:endParaRPr sz="48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de-DE" sz="4800">
                <a:solidFill>
                  <a:srgbClr val="0E0E0E"/>
                </a:solidFill>
              </a:rPr>
              <a:t>Disadvantages:</a:t>
            </a:r>
            <a:endParaRPr b="1" sz="4800">
              <a:solidFill>
                <a:srgbClr val="0E0E0E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E0E0E"/>
              </a:buClr>
              <a:buSzPct val="100000"/>
              <a:buChar char="•"/>
            </a:pPr>
            <a:r>
              <a:rPr b="1" lang="de-DE" sz="4800">
                <a:solidFill>
                  <a:srgbClr val="0E0E0E"/>
                </a:solidFill>
              </a:rPr>
              <a:t>Slower</a:t>
            </a:r>
            <a:r>
              <a:rPr lang="de-DE" sz="4800">
                <a:solidFill>
                  <a:srgbClr val="0E0E0E"/>
                </a:solidFill>
              </a:rPr>
              <a:t> than PCA, especially with large datasets</a:t>
            </a:r>
            <a:endParaRPr sz="4800">
              <a:solidFill>
                <a:srgbClr val="0E0E0E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ct val="100000"/>
              <a:buChar char="•"/>
            </a:pPr>
            <a:r>
              <a:rPr lang="de-DE" sz="4800">
                <a:solidFill>
                  <a:srgbClr val="0E0E0E"/>
                </a:solidFill>
              </a:rPr>
              <a:t>Needs careful </a:t>
            </a:r>
            <a:r>
              <a:rPr b="1" lang="de-DE" sz="4800">
                <a:solidFill>
                  <a:srgbClr val="0E0E0E"/>
                </a:solidFill>
              </a:rPr>
              <a:t>kernel and parameter selection</a:t>
            </a:r>
            <a:endParaRPr b="1" sz="4800">
              <a:solidFill>
                <a:srgbClr val="0E0E0E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ct val="100000"/>
              <a:buChar char="•"/>
            </a:pPr>
            <a:r>
              <a:rPr lang="de-DE" sz="4800">
                <a:solidFill>
                  <a:srgbClr val="0E0E0E"/>
                </a:solidFill>
              </a:rPr>
              <a:t>Harder to apply to </a:t>
            </a:r>
            <a:r>
              <a:rPr b="1" lang="de-DE" sz="4800">
                <a:solidFill>
                  <a:srgbClr val="0E0E0E"/>
                </a:solidFill>
              </a:rPr>
              <a:t>new data</a:t>
            </a:r>
            <a:r>
              <a:rPr lang="de-DE" sz="4800">
                <a:solidFill>
                  <a:srgbClr val="0E0E0E"/>
                </a:solidFill>
              </a:rPr>
              <a:t> without saving the full kernel</a:t>
            </a:r>
            <a:endParaRPr sz="48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E0E0E"/>
              </a:solidFill>
            </a:endParaRPr>
          </a:p>
        </p:txBody>
      </p:sp>
      <p:sp>
        <p:nvSpPr>
          <p:cNvPr id="275" name="Google Shape;275;p23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76" name="Google Shape;276;p23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1700">
                <a:solidFill>
                  <a:srgbClr val="0E63F0"/>
                </a:solidFill>
              </a:rPr>
              <a:t>Kernel PCA (KPCA)</a:t>
            </a:r>
            <a:endParaRPr/>
          </a:p>
        </p:txBody>
      </p:sp>
      <p:pic>
        <p:nvPicPr>
          <p:cNvPr id="277" name="Google Shape;27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4025" y="1974875"/>
            <a:ext cx="2521425" cy="24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4"/>
          <p:cNvSpPr txBox="1"/>
          <p:nvPr>
            <p:ph idx="1" type="body"/>
          </p:nvPr>
        </p:nvSpPr>
        <p:spPr>
          <a:xfrm>
            <a:off x="118075" y="677475"/>
            <a:ext cx="8741100" cy="4137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rPr b="1" lang="de-DE" sz="1200"/>
              <a:t>Goal: </a:t>
            </a:r>
            <a:r>
              <a:rPr lang="de-DE" sz="1200"/>
              <a:t>To introduce a new method for nonlinear dimensionality reduction that preserves the </a:t>
            </a:r>
            <a:r>
              <a:rPr b="1" lang="de-DE" sz="1200"/>
              <a:t>local relationships</a:t>
            </a:r>
            <a:r>
              <a:rPr lang="de-DE" sz="1200"/>
              <a:t> between neighboring data points when mapping high-dimensional data to a lower-dimensional space.</a:t>
            </a:r>
            <a:endParaRPr sz="1200"/>
          </a:p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rPr b="1" lang="de-DE" sz="1200"/>
              <a:t>Dataset Used: </a:t>
            </a:r>
            <a:endParaRPr b="1" sz="1200"/>
          </a:p>
          <a:p>
            <a:pPr indent="-304800" lvl="0" marL="45720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Clr>
                <a:srgbClr val="0E0E0E"/>
              </a:buClr>
              <a:buSzPts val="1200"/>
              <a:buChar char="●"/>
            </a:pPr>
            <a:r>
              <a:rPr lang="de-DE" sz="1200">
                <a:solidFill>
                  <a:srgbClr val="0E0E0E"/>
                </a:solidFill>
              </a:rPr>
              <a:t>Synthetic 3D data (like the </a:t>
            </a:r>
            <a:r>
              <a:rPr b="1" lang="de-DE" sz="1200">
                <a:solidFill>
                  <a:srgbClr val="0E0E0E"/>
                </a:solidFill>
              </a:rPr>
              <a:t>Swiss roll</a:t>
            </a:r>
            <a:r>
              <a:rPr lang="de-DE" sz="1200">
                <a:solidFill>
                  <a:srgbClr val="0E0E0E"/>
                </a:solidFill>
              </a:rPr>
              <a:t> and </a:t>
            </a:r>
            <a:r>
              <a:rPr b="1" lang="de-DE" sz="1200">
                <a:solidFill>
                  <a:srgbClr val="0E0E0E"/>
                </a:solidFill>
              </a:rPr>
              <a:t>S-curve</a:t>
            </a:r>
            <a:r>
              <a:rPr lang="de-DE" sz="1200">
                <a:solidFill>
                  <a:srgbClr val="0E0E0E"/>
                </a:solidFill>
              </a:rPr>
              <a:t>)</a:t>
            </a:r>
            <a:br>
              <a:rPr lang="de-DE" sz="1200">
                <a:solidFill>
                  <a:srgbClr val="0E0E0E"/>
                </a:solidFill>
              </a:rPr>
            </a:br>
            <a:endParaRPr sz="1200">
              <a:solidFill>
                <a:srgbClr val="0E0E0E"/>
              </a:solidFill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Char char="●"/>
            </a:pPr>
            <a:r>
              <a:rPr lang="de-DE" sz="1200">
                <a:solidFill>
                  <a:srgbClr val="0E0E0E"/>
                </a:solidFill>
              </a:rPr>
              <a:t>High-dimensional </a:t>
            </a:r>
            <a:r>
              <a:rPr b="1" lang="de-DE" sz="1200">
                <a:solidFill>
                  <a:srgbClr val="0E0E0E"/>
                </a:solidFill>
              </a:rPr>
              <a:t>face image datasets</a:t>
            </a:r>
            <a:r>
              <a:rPr lang="de-DE" sz="1200">
                <a:solidFill>
                  <a:srgbClr val="0E0E0E"/>
                </a:solidFill>
              </a:rPr>
              <a:t> (each image = one data point in a high-dimensional space)</a:t>
            </a:r>
            <a:br>
              <a:rPr lang="de-DE" sz="1200">
                <a:solidFill>
                  <a:srgbClr val="0E0E0E"/>
                </a:solidFill>
              </a:rPr>
            </a:br>
            <a:endParaRPr sz="1200">
              <a:solidFill>
                <a:srgbClr val="0E0E0E"/>
              </a:solidFill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Char char="●"/>
            </a:pPr>
            <a:r>
              <a:rPr lang="de-DE" sz="1200">
                <a:solidFill>
                  <a:srgbClr val="0E0E0E"/>
                </a:solidFill>
              </a:rPr>
              <a:t>Datasets were chosen to test how well LLE preserves </a:t>
            </a:r>
            <a:r>
              <a:rPr b="1" lang="de-DE" sz="1200">
                <a:solidFill>
                  <a:srgbClr val="0E0E0E"/>
                </a:solidFill>
              </a:rPr>
              <a:t>manifold structure</a:t>
            </a:r>
            <a:r>
              <a:rPr lang="de-DE" sz="1200">
                <a:solidFill>
                  <a:srgbClr val="0E0E0E"/>
                </a:solidFill>
              </a:rPr>
              <a:t> when unfolding data.</a:t>
            </a:r>
            <a:endParaRPr sz="1200">
              <a:solidFill>
                <a:srgbClr val="0E0E0E"/>
              </a:solidFill>
            </a:endParaRPr>
          </a:p>
          <a:p>
            <a:pPr indent="0" lvl="0" marL="45720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rPr b="1" lang="de-DE" sz="1200"/>
              <a:t>Results :</a:t>
            </a:r>
            <a:endParaRPr b="1" sz="1200"/>
          </a:p>
          <a:p>
            <a:pPr indent="-304800" lvl="0" marL="45720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Clr>
                <a:srgbClr val="0E0E0E"/>
              </a:buClr>
              <a:buSzPts val="1200"/>
              <a:buChar char="●"/>
            </a:pPr>
            <a:r>
              <a:rPr lang="de-DE" sz="1200">
                <a:solidFill>
                  <a:srgbClr val="0E0E0E"/>
                </a:solidFill>
              </a:rPr>
              <a:t>LLE successfully "unfolded" curved datasets (like Swiss rolls) into </a:t>
            </a:r>
            <a:r>
              <a:rPr b="1" lang="de-DE" sz="1200">
                <a:solidFill>
                  <a:srgbClr val="0E0E0E"/>
                </a:solidFill>
              </a:rPr>
              <a:t>flat, meaningful 2D representations</a:t>
            </a:r>
            <a:r>
              <a:rPr lang="de-DE" sz="1200">
                <a:solidFill>
                  <a:srgbClr val="0E0E0E"/>
                </a:solidFill>
              </a:rPr>
              <a:t>.</a:t>
            </a:r>
            <a:br>
              <a:rPr lang="de-DE" sz="1200">
                <a:solidFill>
                  <a:srgbClr val="0E0E0E"/>
                </a:solidFill>
              </a:rPr>
            </a:br>
            <a:endParaRPr sz="1200">
              <a:solidFill>
                <a:srgbClr val="0E0E0E"/>
              </a:solidFill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Char char="●"/>
            </a:pPr>
            <a:r>
              <a:rPr lang="de-DE" sz="1200">
                <a:solidFill>
                  <a:srgbClr val="0E0E0E"/>
                </a:solidFill>
              </a:rPr>
              <a:t>On face datasets, it grouped images smoothly based on pose (e.g., left to right rotation).</a:t>
            </a:r>
            <a:br>
              <a:rPr lang="de-DE" sz="1200">
                <a:solidFill>
                  <a:srgbClr val="0E0E0E"/>
                </a:solidFill>
              </a:rPr>
            </a:br>
            <a:endParaRPr sz="1200">
              <a:solidFill>
                <a:srgbClr val="0E0E0E"/>
              </a:solidFill>
            </a:endParaRPr>
          </a:p>
          <a:p>
            <a:pPr indent="-30480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200"/>
              <a:buChar char="●"/>
            </a:pPr>
            <a:r>
              <a:rPr lang="de-DE" sz="1200">
                <a:solidFill>
                  <a:srgbClr val="0E0E0E"/>
                </a:solidFill>
              </a:rPr>
              <a:t>It outperformed PCA by </a:t>
            </a:r>
            <a:r>
              <a:rPr b="1" lang="de-DE" sz="1200">
                <a:solidFill>
                  <a:srgbClr val="0E0E0E"/>
                </a:solidFill>
              </a:rPr>
              <a:t>preserving the structure of local neighborhoods</a:t>
            </a:r>
            <a:r>
              <a:rPr lang="de-DE" sz="1200">
                <a:solidFill>
                  <a:srgbClr val="0E0E0E"/>
                </a:solidFill>
              </a:rPr>
              <a:t>, which PCA often distorted.</a:t>
            </a:r>
            <a:endParaRPr sz="1200">
              <a:solidFill>
                <a:srgbClr val="0E0E0E"/>
              </a:solidFill>
            </a:endParaRPr>
          </a:p>
          <a:p>
            <a:pPr indent="0" lvl="0" marL="45720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rPr b="1" lang="de-DE" sz="1100"/>
              <a:t>Relevance to CNC :</a:t>
            </a:r>
            <a:endParaRPr b="1" sz="1100"/>
          </a:p>
          <a:p>
            <a:pPr indent="-298450" lvl="0" marL="45720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Clr>
                <a:srgbClr val="0E0E0E"/>
              </a:buClr>
              <a:buSzPts val="1100"/>
              <a:buChar char="•"/>
            </a:pPr>
            <a:r>
              <a:rPr lang="de-DE" sz="1100">
                <a:solidFill>
                  <a:srgbClr val="0E0E0E"/>
                </a:solidFill>
              </a:rPr>
              <a:t>CNC sensor signals often show </a:t>
            </a:r>
            <a:r>
              <a:rPr b="1" lang="de-DE" sz="1100">
                <a:solidFill>
                  <a:srgbClr val="0E0E0E"/>
                </a:solidFill>
              </a:rPr>
              <a:t>subtle local variations</a:t>
            </a:r>
            <a:r>
              <a:rPr lang="de-DE" sz="1100">
                <a:solidFill>
                  <a:srgbClr val="0E0E0E"/>
                </a:solidFill>
              </a:rPr>
              <a:t> over time (e.g., slight changes in load or vibration).</a:t>
            </a:r>
            <a:br>
              <a:rPr lang="de-DE" sz="1100">
                <a:solidFill>
                  <a:srgbClr val="0E0E0E"/>
                </a:solidFill>
              </a:rPr>
            </a:br>
            <a:endParaRPr sz="1100">
              <a:solidFill>
                <a:srgbClr val="0E0E0E"/>
              </a:solidFill>
            </a:endParaRPr>
          </a:p>
          <a:p>
            <a:pPr indent="-2984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100"/>
              <a:buChar char="•"/>
            </a:pPr>
            <a:r>
              <a:rPr lang="de-DE" sz="1100">
                <a:solidFill>
                  <a:srgbClr val="0E0E0E"/>
                </a:solidFill>
              </a:rPr>
              <a:t>LLE preserves these </a:t>
            </a:r>
            <a:r>
              <a:rPr b="1" lang="de-DE" sz="1100">
                <a:solidFill>
                  <a:srgbClr val="0E0E0E"/>
                </a:solidFill>
              </a:rPr>
              <a:t>fine-grained patterns</a:t>
            </a:r>
            <a:r>
              <a:rPr lang="de-DE" sz="1100">
                <a:solidFill>
                  <a:srgbClr val="0E0E0E"/>
                </a:solidFill>
              </a:rPr>
              <a:t>, making it ideal for detecting </a:t>
            </a:r>
            <a:r>
              <a:rPr b="1" lang="de-DE" sz="1100">
                <a:solidFill>
                  <a:srgbClr val="0E0E0E"/>
                </a:solidFill>
              </a:rPr>
              <a:t>small behavioral shifts</a:t>
            </a:r>
            <a:r>
              <a:rPr lang="de-DE" sz="1100">
                <a:solidFill>
                  <a:srgbClr val="0E0E0E"/>
                </a:solidFill>
              </a:rPr>
              <a:t> or </a:t>
            </a:r>
            <a:r>
              <a:rPr b="1" lang="de-DE" sz="1100">
                <a:solidFill>
                  <a:srgbClr val="0E0E0E"/>
                </a:solidFill>
              </a:rPr>
              <a:t>early signs of failure</a:t>
            </a:r>
            <a:r>
              <a:rPr lang="de-DE" sz="1100">
                <a:solidFill>
                  <a:srgbClr val="0E0E0E"/>
                </a:solidFill>
              </a:rPr>
              <a:t>.</a:t>
            </a:r>
            <a:br>
              <a:rPr lang="de-DE" sz="1100">
                <a:solidFill>
                  <a:srgbClr val="0E0E0E"/>
                </a:solidFill>
              </a:rPr>
            </a:br>
            <a:endParaRPr sz="1100">
              <a:solidFill>
                <a:srgbClr val="0E0E0E"/>
              </a:solidFill>
            </a:endParaRPr>
          </a:p>
          <a:p>
            <a:pPr indent="-29845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100"/>
              <a:buChar char="•"/>
            </a:pPr>
            <a:r>
              <a:rPr lang="de-DE" sz="1100">
                <a:solidFill>
                  <a:srgbClr val="0E0E0E"/>
                </a:solidFill>
              </a:rPr>
              <a:t>Useful for </a:t>
            </a:r>
            <a:r>
              <a:rPr b="1" lang="de-DE" sz="1100">
                <a:solidFill>
                  <a:srgbClr val="0E0E0E"/>
                </a:solidFill>
              </a:rPr>
              <a:t>unsupervised clustering</a:t>
            </a:r>
            <a:r>
              <a:rPr lang="de-DE" sz="1100">
                <a:solidFill>
                  <a:srgbClr val="0E0E0E"/>
                </a:solidFill>
              </a:rPr>
              <a:t>, </a:t>
            </a:r>
            <a:r>
              <a:rPr b="1" lang="de-DE" sz="1100">
                <a:solidFill>
                  <a:srgbClr val="0E0E0E"/>
                </a:solidFill>
              </a:rPr>
              <a:t>machine state identification</a:t>
            </a:r>
            <a:r>
              <a:rPr lang="de-DE" sz="1100">
                <a:solidFill>
                  <a:srgbClr val="0E0E0E"/>
                </a:solidFill>
              </a:rPr>
              <a:t>, or </a:t>
            </a:r>
            <a:r>
              <a:rPr b="1" lang="de-DE" sz="1100">
                <a:solidFill>
                  <a:srgbClr val="0E0E0E"/>
                </a:solidFill>
              </a:rPr>
              <a:t>transition detection</a:t>
            </a:r>
            <a:r>
              <a:rPr lang="de-DE" sz="1100">
                <a:solidFill>
                  <a:srgbClr val="0E0E0E"/>
                </a:solidFill>
              </a:rPr>
              <a:t> in sensor logs.</a:t>
            </a:r>
            <a:endParaRPr sz="1100">
              <a:solidFill>
                <a:srgbClr val="0E0E0E"/>
              </a:solidFill>
            </a:endParaRPr>
          </a:p>
          <a:p>
            <a:pPr indent="0" lvl="0" marL="45720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None/>
            </a:pPr>
            <a:r>
              <a:rPr lang="de-DE" sz="1100">
                <a:solidFill>
                  <a:srgbClr val="0E0E0E"/>
                </a:solidFill>
              </a:rPr>
              <a:t>                                          </a:t>
            </a:r>
            <a:r>
              <a:rPr lang="de-DE" sz="1100" u="sng">
                <a:solidFill>
                  <a:schemeClr val="hlink"/>
                </a:solidFill>
                <a:hlinkClick r:id="rId3"/>
              </a:rPr>
              <a:t>https://www.science.org/doi/10.1126/science.290.5500.2323</a:t>
            </a:r>
            <a:endParaRPr sz="1100">
              <a:solidFill>
                <a:srgbClr val="0E0E0E"/>
              </a:solidFill>
            </a:endParaRPr>
          </a:p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1100"/>
          </a:p>
        </p:txBody>
      </p:sp>
      <p:sp>
        <p:nvSpPr>
          <p:cNvPr id="284" name="Google Shape;284;p24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85" name="Google Shape;285;p24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 LLE (Locally Linear Embedding)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"/>
          <p:cNvSpPr txBox="1"/>
          <p:nvPr>
            <p:ph idx="1" type="body"/>
          </p:nvPr>
        </p:nvSpPr>
        <p:spPr>
          <a:xfrm>
            <a:off x="187250" y="1007350"/>
            <a:ext cx="8596800" cy="338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749"/>
              </a:spcBef>
              <a:spcAft>
                <a:spcPts val="0"/>
              </a:spcAft>
              <a:buNone/>
            </a:pPr>
            <a:r>
              <a:rPr b="1" lang="de-DE" sz="1200"/>
              <a:t>Advantages:</a:t>
            </a:r>
            <a:endParaRPr b="1" sz="1200"/>
          </a:p>
          <a:p>
            <a:pPr indent="-298450" lvl="0" marL="457200" rtl="0" algn="l">
              <a:spcBef>
                <a:spcPts val="749"/>
              </a:spcBef>
              <a:spcAft>
                <a:spcPts val="0"/>
              </a:spcAft>
              <a:buClr>
                <a:srgbClr val="0E0E0E"/>
              </a:buClr>
              <a:buSzPts val="1100"/>
              <a:buChar char="•"/>
            </a:pPr>
            <a:r>
              <a:rPr lang="de-DE" sz="1100">
                <a:solidFill>
                  <a:srgbClr val="0E0E0E"/>
                </a:solidFill>
              </a:rPr>
              <a:t>Captures </a:t>
            </a:r>
            <a:r>
              <a:rPr b="1" lang="de-DE" sz="1100">
                <a:solidFill>
                  <a:srgbClr val="0E0E0E"/>
                </a:solidFill>
              </a:rPr>
              <a:t>local structure</a:t>
            </a:r>
            <a:r>
              <a:rPr lang="de-DE" sz="1100">
                <a:solidFill>
                  <a:srgbClr val="0E0E0E"/>
                </a:solidFill>
              </a:rPr>
              <a:t> in the data</a:t>
            </a:r>
            <a:br>
              <a:rPr lang="de-DE" sz="1100">
                <a:solidFill>
                  <a:srgbClr val="0E0E0E"/>
                </a:solidFill>
              </a:rPr>
            </a:br>
            <a:endParaRPr sz="1100">
              <a:solidFill>
                <a:srgbClr val="0E0E0E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100"/>
              <a:buChar char="•"/>
            </a:pPr>
            <a:r>
              <a:rPr lang="de-DE" sz="1100">
                <a:solidFill>
                  <a:srgbClr val="0E0E0E"/>
                </a:solidFill>
              </a:rPr>
              <a:t>Good at unfolding </a:t>
            </a:r>
            <a:r>
              <a:rPr b="1" lang="de-DE" sz="1100">
                <a:solidFill>
                  <a:srgbClr val="0E0E0E"/>
                </a:solidFill>
              </a:rPr>
              <a:t>nonlinear manifolds</a:t>
            </a:r>
            <a:br>
              <a:rPr b="1" lang="de-DE" sz="1100">
                <a:solidFill>
                  <a:srgbClr val="0E0E0E"/>
                </a:solidFill>
              </a:rPr>
            </a:br>
            <a:endParaRPr b="1" sz="1100">
              <a:solidFill>
                <a:srgbClr val="0E0E0E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100"/>
              <a:buChar char="•"/>
            </a:pPr>
            <a:r>
              <a:rPr lang="de-DE" sz="1100">
                <a:solidFill>
                  <a:srgbClr val="0E0E0E"/>
                </a:solidFill>
              </a:rPr>
              <a:t>No tuning of global cost function</a:t>
            </a:r>
            <a:endParaRPr sz="11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749"/>
              </a:spcBef>
              <a:spcAft>
                <a:spcPts val="0"/>
              </a:spcAft>
              <a:buNone/>
            </a:pPr>
            <a:r>
              <a:rPr b="1" lang="de-DE" sz="1100">
                <a:solidFill>
                  <a:srgbClr val="0E0E0E"/>
                </a:solidFill>
              </a:rPr>
              <a:t>Disadvantages:</a:t>
            </a:r>
            <a:endParaRPr b="1" sz="11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E0E0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-DE" sz="1100"/>
              <a:t>Sensitive to </a:t>
            </a:r>
            <a:r>
              <a:rPr b="1" lang="de-DE" sz="1100"/>
              <a:t>noise</a:t>
            </a:r>
            <a:r>
              <a:rPr lang="de-DE" sz="1100"/>
              <a:t> and the choice of </a:t>
            </a:r>
            <a:r>
              <a:rPr b="1" lang="de-DE" sz="1100"/>
              <a:t>number of neighbors</a:t>
            </a:r>
            <a:br>
              <a:rPr b="1" lang="de-DE" sz="1100"/>
            </a:b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de-DE" sz="1100"/>
              <a:t>Not ideal for </a:t>
            </a:r>
            <a:r>
              <a:rPr b="1" lang="de-DE" sz="1100"/>
              <a:t>real-time use</a:t>
            </a:r>
            <a:r>
              <a:rPr lang="de-DE" sz="1100"/>
              <a:t> (slow and hard to generalize to new data)</a:t>
            </a:r>
            <a:br>
              <a:rPr lang="de-DE" sz="1100"/>
            </a:b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E0E0E"/>
              </a:solidFill>
            </a:endParaRPr>
          </a:p>
          <a:p>
            <a:pPr indent="0" lvl="0" marL="0" rtl="0" algn="l">
              <a:spcBef>
                <a:spcPts val="749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5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93" name="Google Shape;293;p25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/>
              <a:t>LLE (Locally Linear Embedding)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6"/>
          <p:cNvSpPr txBox="1"/>
          <p:nvPr>
            <p:ph idx="1" type="body"/>
          </p:nvPr>
        </p:nvSpPr>
        <p:spPr>
          <a:xfrm>
            <a:off x="150200" y="589950"/>
            <a:ext cx="4780800" cy="438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rPr b="1" lang="de-DE" sz="1200"/>
              <a:t>Goal : </a:t>
            </a:r>
            <a:r>
              <a:rPr b="1" lang="de-DE" sz="1200"/>
              <a:t>Hybrid framework combines</a:t>
            </a:r>
            <a:r>
              <a:rPr lang="de-DE" sz="1200"/>
              <a:t> the ability of f</a:t>
            </a:r>
            <a:r>
              <a:rPr b="1" lang="de-DE" sz="1200"/>
              <a:t>eature extraction of CNN</a:t>
            </a:r>
            <a:r>
              <a:rPr lang="de-DE" sz="1200"/>
              <a:t> and the </a:t>
            </a:r>
            <a:r>
              <a:rPr b="1" lang="de-DE" sz="1200"/>
              <a:t>temporal dynamic of LSTM</a:t>
            </a:r>
            <a:r>
              <a:rPr lang="de-DE" sz="1200"/>
              <a:t> to yield high-performance latent representations of original neural signals.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rPr b="1" lang="de-DE" sz="1200"/>
              <a:t>Dataset : </a:t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de-DE" sz="1200"/>
              <a:t>Center-out Task</a:t>
            </a:r>
            <a:r>
              <a:rPr lang="de-DE" sz="1200"/>
              <a:t>: LFP data from macaques performing joystick-controlled movements.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b="1" lang="de-DE" sz="1200"/>
              <a:t>Food Tracking Task</a:t>
            </a:r>
            <a:r>
              <a:rPr lang="de-DE" sz="1200"/>
              <a:t>: Public ECoG dataset where monkeys track 3D food movements.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lang="de-DE" sz="1200"/>
              <a:t>Matrix with dimensions </a:t>
            </a:r>
            <a:r>
              <a:rPr b="1" lang="de-DE" sz="1200"/>
              <a:t>[128 channels × N timepoints]</a:t>
            </a:r>
            <a:endParaRPr b="1"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b="1" lang="de-DE" sz="1200"/>
              <a:t>N = duration </a:t>
            </a:r>
            <a:r>
              <a:rPr lang="de-DE" sz="1200"/>
              <a:t>of a session.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1200"/>
          </a:p>
        </p:txBody>
      </p:sp>
      <p:sp>
        <p:nvSpPr>
          <p:cNvPr id="300" name="Google Shape;300;p26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01" name="Google Shape;301;p26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Hybrid Autoencoder (LSTM + CNN)</a:t>
            </a:r>
            <a:endParaRPr/>
          </a:p>
        </p:txBody>
      </p:sp>
      <p:pic>
        <p:nvPicPr>
          <p:cNvPr id="302" name="Google Shape;302;p26" title="Screenshot 2025-06-05 at 07.54.04.png"/>
          <p:cNvPicPr preferRelativeResize="0"/>
          <p:nvPr/>
        </p:nvPicPr>
        <p:blipFill rotWithShape="1">
          <a:blip r:embed="rId3">
            <a:alphaModFix/>
          </a:blip>
          <a:srcRect b="0" l="5231" r="0" t="0"/>
          <a:stretch/>
        </p:blipFill>
        <p:spPr>
          <a:xfrm>
            <a:off x="4931000" y="1075800"/>
            <a:ext cx="3980450" cy="31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6"/>
          <p:cNvSpPr txBox="1"/>
          <p:nvPr/>
        </p:nvSpPr>
        <p:spPr>
          <a:xfrm>
            <a:off x="5386375" y="4344800"/>
            <a:ext cx="352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</a:rPr>
              <a:t>Fig 1: ReduceNet Framework </a:t>
            </a:r>
            <a:r>
              <a:rPr i="1" lang="de-DE" sz="1000">
                <a:solidFill>
                  <a:schemeClr val="dk1"/>
                </a:solidFill>
              </a:rPr>
              <a:t>[5]</a:t>
            </a:r>
            <a:endParaRPr i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 txBox="1"/>
          <p:nvPr>
            <p:ph idx="1" type="body"/>
          </p:nvPr>
        </p:nvSpPr>
        <p:spPr>
          <a:xfrm>
            <a:off x="237150" y="611925"/>
            <a:ext cx="7950600" cy="4268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rPr b="1" lang="de-DE" sz="1200"/>
              <a:t>Results / Conclusion: </a:t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de-DE" sz="1200"/>
              <a:t>ReduceNet outperformed</a:t>
            </a:r>
            <a:r>
              <a:rPr lang="de-DE" sz="1200"/>
              <a:t> KPCA, PLS, PSID, and LFADS in decoding performance across both datasets.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Achieved </a:t>
            </a:r>
            <a:r>
              <a:rPr b="1" lang="de-DE" sz="1200"/>
              <a:t>high decoding accuracy with fewer components.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Provided </a:t>
            </a:r>
            <a:r>
              <a:rPr b="1" lang="de-DE" sz="1200"/>
              <a:t>interpretable representations</a:t>
            </a:r>
            <a:r>
              <a:rPr lang="de-DE" sz="1200"/>
              <a:t> by associating frequency components with behavior.</a:t>
            </a:r>
            <a:br>
              <a:rPr lang="de-DE" sz="1200"/>
            </a:b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de-DE" sz="1200"/>
              <a:t>Key Advantages : </a:t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A </a:t>
            </a:r>
            <a:r>
              <a:rPr b="1" lang="de-DE" sz="1200"/>
              <a:t>semi-supervised learning</a:t>
            </a:r>
            <a:r>
              <a:rPr lang="de-DE" sz="1200"/>
              <a:t> approach with a decoding target as a constraint..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de-DE" sz="1200"/>
              <a:t>Demonstrated </a:t>
            </a:r>
            <a:r>
              <a:rPr b="1" lang="de-DE" sz="1200"/>
              <a:t>scalability, interpretability, and generalizability</a:t>
            </a:r>
            <a:r>
              <a:rPr lang="de-DE" sz="1200"/>
              <a:t>.</a:t>
            </a:r>
            <a:br>
              <a:rPr lang="de-DE" sz="1200"/>
            </a:b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de-DE" sz="1200"/>
              <a:t>Disadvantages : </a:t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de-DE" sz="1200"/>
              <a:t>Training time</a:t>
            </a:r>
            <a:r>
              <a:rPr lang="de-DE" sz="1200"/>
              <a:t> (~55 minutes per session) is high compared to traditional methods.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7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1200"/>
          </a:p>
        </p:txBody>
      </p:sp>
      <p:sp>
        <p:nvSpPr>
          <p:cNvPr id="310" name="Google Shape;310;p27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11" name="Google Shape;311;p27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Hybrid Autoencoder (LSTM + CNN)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>
            <p:ph idx="1" type="body"/>
          </p:nvPr>
        </p:nvSpPr>
        <p:spPr>
          <a:xfrm>
            <a:off x="160375" y="520200"/>
            <a:ext cx="4411500" cy="44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rPr b="1" lang="de-DE" sz="1200"/>
              <a:t>Goal :</a:t>
            </a:r>
            <a:r>
              <a:rPr lang="de-DE" sz="1200"/>
              <a:t> Reduce data dimensionality while retaining essential information for </a:t>
            </a:r>
            <a:r>
              <a:rPr b="1" lang="de-DE" sz="1200"/>
              <a:t>better </a:t>
            </a:r>
            <a:r>
              <a:rPr b="1" lang="de-DE" sz="1200"/>
              <a:t>data visualization, image reconstruction, and face recognition</a:t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rPr b="1" lang="de-DE" sz="1200"/>
              <a:t>Datasets : </a:t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b="1" lang="de-DE" sz="1200"/>
              <a:t>MNIST Dataset </a:t>
            </a:r>
            <a:r>
              <a:rPr lang="de-DE" sz="1200"/>
              <a:t>(Handwritten Digits)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b="1" lang="de-DE" sz="1200">
                <a:solidFill>
                  <a:srgbClr val="000000"/>
                </a:solidFill>
              </a:rPr>
              <a:t>Total Samples : </a:t>
            </a:r>
            <a:r>
              <a:rPr lang="de-DE" sz="1200">
                <a:solidFill>
                  <a:srgbClr val="000000"/>
                </a:solidFill>
              </a:rPr>
              <a:t>70,000 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b="1" lang="de-DE" sz="1200">
                <a:solidFill>
                  <a:srgbClr val="000000"/>
                </a:solidFill>
              </a:rPr>
              <a:t>Image Size : </a:t>
            </a:r>
            <a:r>
              <a:rPr lang="de-DE" sz="1200">
                <a:solidFill>
                  <a:srgbClr val="000000"/>
                </a:solidFill>
              </a:rPr>
              <a:t>28 × 28 pixels</a:t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b="1" lang="de-DE" sz="1200"/>
              <a:t>ImageNet Dataset </a:t>
            </a:r>
            <a:r>
              <a:rPr lang="de-DE" sz="1200"/>
              <a:t>(Large-Scale Visual Recognition)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b="1" lang="de-DE" sz="1200"/>
              <a:t>Total Samples : </a:t>
            </a:r>
            <a:r>
              <a:rPr lang="de-DE" sz="1200"/>
              <a:t>14 Million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b="1" lang="de-DE" sz="1200"/>
              <a:t>Image Size : </a:t>
            </a:r>
            <a:r>
              <a:rPr lang="de-DE" sz="1200"/>
              <a:t>256 × 256 pixels</a:t>
            </a:r>
            <a:endParaRPr b="1" sz="1200"/>
          </a:p>
        </p:txBody>
      </p:sp>
      <p:sp>
        <p:nvSpPr>
          <p:cNvPr id="318" name="Google Shape;318;p28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19" name="Google Shape;319;p28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Transformer-based Autoencoder</a:t>
            </a:r>
            <a:endParaRPr/>
          </a:p>
        </p:txBody>
      </p:sp>
      <p:pic>
        <p:nvPicPr>
          <p:cNvPr id="320" name="Google Shape;320;p28" title="Screenshot 2025-06-05 at 08.55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1600" y="651350"/>
            <a:ext cx="4587573" cy="392981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8"/>
          <p:cNvSpPr txBox="1"/>
          <p:nvPr/>
        </p:nvSpPr>
        <p:spPr>
          <a:xfrm>
            <a:off x="5487850" y="4599613"/>
            <a:ext cx="274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>
                <a:solidFill>
                  <a:schemeClr val="dk1"/>
                </a:solidFill>
              </a:rPr>
              <a:t>Fig 2: Transformer-DR Architecture</a:t>
            </a:r>
            <a:r>
              <a:rPr i="1" lang="de-DE" sz="1000">
                <a:solidFill>
                  <a:schemeClr val="dk1"/>
                </a:solidFill>
              </a:rPr>
              <a:t>[4]</a:t>
            </a:r>
            <a:endParaRPr i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9"/>
          <p:cNvSpPr txBox="1"/>
          <p:nvPr>
            <p:ph idx="1" type="body"/>
          </p:nvPr>
        </p:nvSpPr>
        <p:spPr>
          <a:xfrm>
            <a:off x="160375" y="520200"/>
            <a:ext cx="8881800" cy="445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50000"/>
              </a:lnSpc>
              <a:spcBef>
                <a:spcPts val="749"/>
              </a:spcBef>
              <a:spcAft>
                <a:spcPts val="0"/>
              </a:spcAft>
              <a:buSzPts val="688"/>
              <a:buNone/>
            </a:pPr>
            <a:r>
              <a:rPr b="1" lang="de-DE" sz="1200"/>
              <a:t>Results/Conclusion:</a:t>
            </a:r>
            <a:endParaRPr b="1"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Transformer-DR offered </a:t>
            </a:r>
            <a:r>
              <a:rPr b="1" lang="de-DE" sz="1200"/>
              <a:t>better class separability</a:t>
            </a:r>
            <a:r>
              <a:rPr lang="de-DE" sz="1200"/>
              <a:t> in 2D space.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Transformer-DR retained </a:t>
            </a:r>
            <a:r>
              <a:rPr b="1" lang="de-DE" sz="1200"/>
              <a:t>more image details</a:t>
            </a:r>
            <a:r>
              <a:rPr lang="de-DE" sz="1200"/>
              <a:t> than AE.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Transformer-DR and its variant Transformer-DRr reduced feature dimensions from </a:t>
            </a:r>
            <a:r>
              <a:rPr b="1" lang="de-DE" sz="1200"/>
              <a:t>37632 → 12544</a:t>
            </a:r>
            <a:r>
              <a:rPr lang="de-DE" sz="1200"/>
              <a:t>.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Proved that </a:t>
            </a:r>
            <a:r>
              <a:rPr b="1" lang="de-DE" sz="1200"/>
              <a:t>high recognition can be maintained even with reduced features</a:t>
            </a:r>
            <a:r>
              <a:rPr lang="de-DE" sz="1200"/>
              <a:t>.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de-DE" sz="1200"/>
              <a:t>Disadvantages</a:t>
            </a:r>
            <a:r>
              <a:rPr lang="de-DE" sz="1200"/>
              <a:t> : 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Computationally Expensive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Slower Training Time</a:t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e-DE" sz="1200"/>
              <a:t>Requires Careful Tuning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de-DE" sz="1200"/>
              <a:t> </a:t>
            </a:r>
            <a:endParaRPr sz="1200"/>
          </a:p>
        </p:txBody>
      </p:sp>
      <p:sp>
        <p:nvSpPr>
          <p:cNvPr id="328" name="Google Shape;328;p29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29" name="Google Shape;329;p29"/>
          <p:cNvSpPr txBox="1"/>
          <p:nvPr>
            <p:ph type="title"/>
          </p:nvPr>
        </p:nvSpPr>
        <p:spPr>
          <a:xfrm>
            <a:off x="0" y="2"/>
            <a:ext cx="5746500" cy="520200"/>
          </a:xfrm>
          <a:prstGeom prst="rect">
            <a:avLst/>
          </a:prstGeom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Transformer-based Autoencoder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type="title"/>
          </p:nvPr>
        </p:nvSpPr>
        <p:spPr>
          <a:xfrm>
            <a:off x="560" y="1"/>
            <a:ext cx="5745801" cy="520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4000" spcFirstLastPara="1" rIns="91425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de-DE"/>
              <a:t>Project Timeline</a:t>
            </a:r>
            <a:endParaRPr/>
          </a:p>
        </p:txBody>
      </p:sp>
      <p:sp>
        <p:nvSpPr>
          <p:cNvPr id="335" name="Google Shape;335;p30"/>
          <p:cNvSpPr txBox="1"/>
          <p:nvPr>
            <p:ph idx="12" type="sldNum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graphicFrame>
        <p:nvGraphicFramePr>
          <p:cNvPr id="336" name="Google Shape;336;p30"/>
          <p:cNvGraphicFramePr/>
          <p:nvPr/>
        </p:nvGraphicFramePr>
        <p:xfrm>
          <a:off x="200888" y="70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{EB086059-BAFA-4AA2-B91A-F25674F77CA1}</a:tableStyleId>
              </a:tblPr>
              <a:tblGrid>
                <a:gridCol w="1850925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36600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de-DE" sz="1400" u="none" cap="none" strike="noStrike"/>
                        <a:t>Project Phase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de-DE" sz="1400" u="none" cap="none" strike="noStrike"/>
                        <a:t>Apr-2</a:t>
                      </a:r>
                      <a:r>
                        <a:rPr b="1" lang="de-D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de-DE" sz="1400" u="none" cap="none" strike="noStrike"/>
                        <a:t>May-2</a:t>
                      </a:r>
                      <a:r>
                        <a:rPr b="1" lang="de-D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de-DE" sz="1400" u="none" cap="none" strike="noStrike"/>
                        <a:t>Jun-2</a:t>
                      </a:r>
                      <a:r>
                        <a:rPr b="1" lang="de-D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de-DE" sz="1400" u="none" cap="none" strike="noStrike"/>
                        <a:t>Jul-2</a:t>
                      </a:r>
                      <a:r>
                        <a:rPr b="1" lang="de-DE"/>
                        <a:t>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de-DE" sz="1400" u="none" cap="none" strike="noStrike"/>
                        <a:t>Aug-</a:t>
                      </a:r>
                      <a:r>
                        <a:rPr b="1" lang="de-DE"/>
                        <a:t>25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  <a:tc hMerge="1"/>
                <a:tc hMerge="1"/>
                <a:tc hMerge="1"/>
              </a:tr>
              <a:tr h="2977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W3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W4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W1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W2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W3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W4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W1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W2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W3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W4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W1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W2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W3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W4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W1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W2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W3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de-DE" sz="1000" u="none" cap="none" strike="noStrike"/>
                        <a:t>W4</a:t>
                      </a:r>
                      <a:endParaRPr b="1" sz="1000" u="none" cap="none" strike="noStrike"/>
                    </a:p>
                  </a:txBody>
                  <a:tcPr marT="91425" marB="91425" marR="91425" marL="91425" anchor="ctr"/>
                </a:tc>
              </a:tr>
              <a:tr h="150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de-DE" sz="800" u="none" cap="none" strike="noStrike"/>
                        <a:t>Literature review</a:t>
                      </a:r>
                      <a:endParaRPr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rgbClr val="0E6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rgbClr val="0E6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rgbClr val="0E6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>
                        <a:solidFill>
                          <a:srgbClr val="0E63F0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rgbClr val="0E6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de-DE" sz="800" u="none" cap="none" strike="noStrike"/>
                        <a:t>Research Paper Gathering</a:t>
                      </a:r>
                      <a:endParaRPr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rgbClr val="0E6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rgbClr val="0E6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rgbClr val="0E6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</a:tr>
              <a:tr h="28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de-DE" sz="800" u="none" cap="none" strike="noStrike"/>
                        <a:t>Summarizing LR</a:t>
                      </a:r>
                      <a:endParaRPr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rgbClr val="0E6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rgbClr val="0E6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</a:tr>
              <a:tr h="28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de-DE" sz="800" u="none" cap="none" strike="noStrike"/>
                        <a:t>First Report Draft</a:t>
                      </a:r>
                      <a:endParaRPr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rgbClr val="0E6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rgbClr val="0E63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</a:tr>
              <a:tr h="28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de-DE" sz="800" u="none" cap="none" strike="noStrike">
                          <a:solidFill>
                            <a:schemeClr val="dk1"/>
                          </a:solidFill>
                        </a:rPr>
                        <a:t>Deciding Implementation Method</a:t>
                      </a:r>
                      <a:endParaRPr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</a:tr>
              <a:tr h="28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de-DE" sz="800" u="none" cap="none" strike="noStrike"/>
                        <a:t>Implementation</a:t>
                      </a:r>
                      <a:endParaRPr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</a:tr>
              <a:tr h="28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de-DE" sz="800" u="none" cap="none" strike="noStrike"/>
                        <a:t>Evaluation of Performance</a:t>
                      </a:r>
                      <a:endParaRPr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</a:tr>
              <a:tr h="28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de-DE" sz="800" u="none" cap="none" strike="noStrike"/>
                        <a:t>Second Draft</a:t>
                      </a:r>
                      <a:endParaRPr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</a:tr>
              <a:tr h="28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de-DE" sz="800" u="none" cap="none" strike="noStrike"/>
                        <a:t>Final Report Writing</a:t>
                      </a:r>
                      <a:endParaRPr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</a:tr>
              <a:tr h="28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de-DE" sz="800" u="none" cap="none" strike="noStrike"/>
                        <a:t>Final Draft</a:t>
                      </a:r>
                      <a:endParaRPr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</a:tr>
              <a:tr h="28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de-DE" sz="800" u="none" cap="none" strike="noStrike"/>
                        <a:t>Review and Submission</a:t>
                      </a:r>
                      <a:endParaRPr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1" sz="800" u="none" cap="none" strike="noStrike"/>
                    </a:p>
                  </a:txBody>
                  <a:tcPr marT="91425" marB="91425" marR="91425" marL="91425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1"/>
          <p:cNvSpPr txBox="1"/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de-DE"/>
              <a:t>Way Forward…</a:t>
            </a:r>
            <a:endParaRPr/>
          </a:p>
        </p:txBody>
      </p:sp>
      <p:sp>
        <p:nvSpPr>
          <p:cNvPr id="342" name="Google Shape;342;p31"/>
          <p:cNvSpPr txBox="1"/>
          <p:nvPr>
            <p:ph idx="1" type="body"/>
          </p:nvPr>
        </p:nvSpPr>
        <p:spPr>
          <a:xfrm>
            <a:off x="285774" y="668340"/>
            <a:ext cx="84240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de-DE" sz="1200"/>
              <a:t>Start </a:t>
            </a:r>
            <a:r>
              <a:rPr b="1" lang="de-DE" sz="1200"/>
              <a:t>Implementation and Experimentation</a:t>
            </a:r>
            <a:r>
              <a:rPr lang="de-DE" sz="1200"/>
              <a:t> with the following methods : 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de-DE" sz="1200"/>
              <a:t>PCA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de-DE" sz="1200"/>
              <a:t>Kernel PCA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de-DE" sz="1200"/>
              <a:t>VAE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de-DE" sz="1200"/>
              <a:t>Transformer-based Autoencoder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de-DE" sz="1200"/>
              <a:t>Partial Implementation and Results till </a:t>
            </a:r>
            <a:r>
              <a:rPr b="1" lang="de-DE" sz="1200"/>
              <a:t>1st July t</a:t>
            </a:r>
            <a:r>
              <a:rPr lang="de-DE" sz="1200"/>
              <a:t>o show Intermediate Results</a:t>
            </a:r>
            <a:br>
              <a:rPr lang="de-DE" sz="1200"/>
            </a:br>
            <a:endParaRPr sz="1200"/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de-DE" sz="1200"/>
              <a:t>Record key difference between the above mentioned methods.</a:t>
            </a:r>
            <a:endParaRPr sz="12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3" name="Google Shape;343;p31"/>
          <p:cNvSpPr txBox="1"/>
          <p:nvPr>
            <p:ph idx="12" type="sldNum"/>
          </p:nvPr>
        </p:nvSpPr>
        <p:spPr>
          <a:xfrm>
            <a:off x="8001764" y="4972052"/>
            <a:ext cx="8574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2"/>
          <p:cNvSpPr txBox="1"/>
          <p:nvPr>
            <p:ph type="title"/>
          </p:nvPr>
        </p:nvSpPr>
        <p:spPr>
          <a:xfrm>
            <a:off x="560" y="1"/>
            <a:ext cx="5745801" cy="520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4400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de-DE"/>
              <a:t>References</a:t>
            </a:r>
            <a:endParaRPr/>
          </a:p>
        </p:txBody>
      </p:sp>
      <p:sp>
        <p:nvSpPr>
          <p:cNvPr id="349" name="Google Shape;349;p32"/>
          <p:cNvSpPr txBox="1"/>
          <p:nvPr>
            <p:ph idx="1" type="body"/>
          </p:nvPr>
        </p:nvSpPr>
        <p:spPr>
          <a:xfrm>
            <a:off x="285774" y="668340"/>
            <a:ext cx="84240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de-DE" sz="1100">
                <a:solidFill>
                  <a:srgbClr val="333333"/>
                </a:solidFill>
                <a:highlight>
                  <a:srgbClr val="FFFFFF"/>
                </a:highlight>
              </a:rPr>
              <a:t>M. Ashraf </a:t>
            </a:r>
            <a:r>
              <a:rPr i="1" lang="de-DE" sz="1100">
                <a:solidFill>
                  <a:srgbClr val="333333"/>
                </a:solidFill>
                <a:highlight>
                  <a:srgbClr val="FFFFFF"/>
                </a:highlight>
              </a:rPr>
              <a:t>et al</a:t>
            </a:r>
            <a:r>
              <a:rPr lang="de-DE" sz="1100">
                <a:solidFill>
                  <a:srgbClr val="333333"/>
                </a:solidFill>
                <a:highlight>
                  <a:srgbClr val="FFFFFF"/>
                </a:highlight>
              </a:rPr>
              <a:t>.</a:t>
            </a:r>
            <a:r>
              <a:rPr lang="de-DE" sz="1100">
                <a:solidFill>
                  <a:srgbClr val="333333"/>
                </a:solidFill>
                <a:highlight>
                  <a:srgbClr val="FFFFFF"/>
                </a:highlight>
              </a:rPr>
              <a:t>, "</a:t>
            </a:r>
            <a:r>
              <a:rPr lang="de-DE" sz="1100">
                <a:solidFill>
                  <a:srgbClr val="333333"/>
                </a:solidFill>
                <a:highlight>
                  <a:srgbClr val="FFFFFF"/>
                </a:highlight>
              </a:rPr>
              <a:t>A Survey on Dimensionality Reduction Techniques for Time-Series Data,</a:t>
            </a:r>
            <a:r>
              <a:rPr lang="de-DE" sz="1100">
                <a:solidFill>
                  <a:srgbClr val="333333"/>
                </a:solidFill>
                <a:highlight>
                  <a:srgbClr val="FFFFFF"/>
                </a:highlight>
              </a:rPr>
              <a:t>" in </a:t>
            </a:r>
            <a:r>
              <a:rPr i="1" lang="de-DE" sz="1100">
                <a:solidFill>
                  <a:srgbClr val="333333"/>
                </a:solidFill>
                <a:highlight>
                  <a:srgbClr val="FFFFFF"/>
                </a:highlight>
              </a:rPr>
              <a:t>IEEE Access</a:t>
            </a:r>
            <a:r>
              <a:rPr lang="de-DE" sz="1100">
                <a:solidFill>
                  <a:srgbClr val="333333"/>
                </a:solidFill>
                <a:highlight>
                  <a:srgbClr val="FFFFFF"/>
                </a:highlight>
              </a:rPr>
              <a:t>, vol. 11, pp. 42909-42923, 2023, doi: 10.1109/ACCESS.2023.3269693. </a:t>
            </a:r>
            <a:r>
              <a:rPr lang="de-DE" sz="1100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https://ieeexplore.ieee.org/document/10107391</a:t>
            </a:r>
            <a:r>
              <a:rPr lang="de-DE" sz="11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endParaRPr sz="11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AutoNum type="arabicPeriod"/>
            </a:pPr>
            <a:r>
              <a:rPr lang="de-DE" sz="1100">
                <a:solidFill>
                  <a:srgbClr val="222222"/>
                </a:solidFill>
                <a:highlight>
                  <a:srgbClr val="FFFFFF"/>
                </a:highlight>
              </a:rPr>
              <a:t>Wan, X., Li, H., Zhang, L. </a:t>
            </a:r>
            <a:r>
              <a:rPr i="1" lang="de-DE" sz="1100">
                <a:solidFill>
                  <a:srgbClr val="222222"/>
                </a:solidFill>
                <a:highlight>
                  <a:srgbClr val="FFFFFF"/>
                </a:highlight>
              </a:rPr>
              <a:t>et al.</a:t>
            </a:r>
            <a:r>
              <a:rPr lang="de-DE" sz="1100">
                <a:solidFill>
                  <a:srgbClr val="222222"/>
                </a:solidFill>
                <a:highlight>
                  <a:srgbClr val="FFFFFF"/>
                </a:highlight>
              </a:rPr>
              <a:t> “Dimensionality reduction for multivariate time-series data mining”.  </a:t>
            </a:r>
            <a:r>
              <a:rPr i="1" lang="de-DE" sz="1100">
                <a:solidFill>
                  <a:srgbClr val="222222"/>
                </a:solidFill>
                <a:highlight>
                  <a:srgbClr val="FFFFFF"/>
                </a:highlight>
              </a:rPr>
              <a:t>J Supercomput</a:t>
            </a:r>
            <a:r>
              <a:rPr lang="de-DE" sz="1100">
                <a:solidFill>
                  <a:srgbClr val="222222"/>
                </a:solidFill>
                <a:highlight>
                  <a:srgbClr val="FFFFFF"/>
                </a:highlight>
              </a:rPr>
              <a:t> 78, 9862–9878 (2022). </a:t>
            </a:r>
            <a:r>
              <a:rPr lang="de-DE" sz="1100" u="sng">
                <a:solidFill>
                  <a:schemeClr val="hlink"/>
                </a:solidFill>
                <a:highlight>
                  <a:srgbClr val="FFFFFF"/>
                </a:highlight>
                <a:hlinkClick r:id="rId4"/>
              </a:rPr>
              <a:t>https://doi.org/10.1007/s11227-021-04303-4</a:t>
            </a:r>
            <a:r>
              <a:rPr lang="de-DE" sz="110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endParaRPr sz="11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AutoNum type="arabicPeriod"/>
            </a:pPr>
            <a:r>
              <a:rPr lang="de-DE" sz="1100">
                <a:solidFill>
                  <a:srgbClr val="0E0E0E"/>
                </a:solidFill>
              </a:rPr>
              <a:t>W. Todo, B. Laurent, J.-M. Loubes, and M. Selmani, “Dimension Reduction for Time Series with Variational AutoEncoders”, arXiv:2204.11060, Apr. 2022. </a:t>
            </a:r>
            <a:r>
              <a:rPr lang="de-DE" sz="1100" u="sng">
                <a:solidFill>
                  <a:schemeClr val="hlink"/>
                </a:solidFill>
                <a:hlinkClick r:id="rId5"/>
              </a:rPr>
              <a:t>https://doi.org/10.48550/arXiv.2204.11060</a:t>
            </a:r>
            <a:r>
              <a:rPr lang="de-DE" sz="1100">
                <a:solidFill>
                  <a:srgbClr val="0E0E0E"/>
                </a:solidFill>
              </a:rPr>
              <a:t> </a:t>
            </a:r>
            <a:endParaRPr sz="1100">
              <a:solidFill>
                <a:srgbClr val="0E0E0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100"/>
              <a:buAutoNum type="arabicPeriod"/>
            </a:pPr>
            <a:r>
              <a:rPr lang="de-DE" sz="1100">
                <a:uFill>
                  <a:noFill/>
                </a:uFill>
                <a:hlinkClick r:id="rId6"/>
              </a:rPr>
              <a:t>Ruisheng Ran</a:t>
            </a:r>
            <a:r>
              <a:rPr lang="de-DE" sz="1100"/>
              <a:t>, </a:t>
            </a:r>
            <a:r>
              <a:rPr lang="de-DE" sz="1100">
                <a:uFill>
                  <a:noFill/>
                </a:uFill>
                <a:hlinkClick r:id="rId7"/>
              </a:rPr>
              <a:t>Tianyu Gao</a:t>
            </a:r>
            <a:r>
              <a:rPr lang="de-DE" sz="1100"/>
              <a:t>, </a:t>
            </a:r>
            <a:r>
              <a:rPr lang="de-DE" sz="1100">
                <a:uFill>
                  <a:noFill/>
                </a:uFill>
                <a:hlinkClick r:id="rId8"/>
              </a:rPr>
              <a:t>Bin Fang</a:t>
            </a:r>
            <a:r>
              <a:rPr lang="de-DE" sz="1100"/>
              <a:t>, “</a:t>
            </a:r>
            <a:r>
              <a:rPr lang="de-DE" sz="1100"/>
              <a:t>Transformer-based dimensionality reduction”, 15 Oct 2022. </a:t>
            </a:r>
            <a:r>
              <a:rPr lang="de-DE" sz="1100" u="sng">
                <a:solidFill>
                  <a:schemeClr val="hlink"/>
                </a:solidFill>
                <a:hlinkClick r:id="rId9"/>
              </a:rPr>
              <a:t>https://arxiv.org/abs/2210.08288</a:t>
            </a:r>
            <a:r>
              <a:rPr lang="de-DE" sz="1100"/>
              <a:t>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100"/>
              <a:buAutoNum type="arabicPeriod"/>
            </a:pPr>
            <a:r>
              <a:rPr lang="de-DE" sz="1100">
                <a:solidFill>
                  <a:srgbClr val="0E0E0E"/>
                </a:solidFill>
              </a:rPr>
              <a:t>Xingchen Ran, Weidong Chen, Blaise Yvert, Shaomin Zhang, “A hybrid autoencoder framework of dimensionality reduction for brain-computer interface decoding”, Computers in Biology and Medicine, Volume 148, 2022,105871, ISSN 0010-4825, </a:t>
            </a:r>
            <a:r>
              <a:rPr lang="de-DE" sz="1100" u="sng">
                <a:solidFill>
                  <a:schemeClr val="hlink"/>
                </a:solidFill>
                <a:hlinkClick r:id="rId10"/>
              </a:rPr>
              <a:t>https://doi.org/10.1016/j.compbiomed.2022.105871</a:t>
            </a:r>
            <a:r>
              <a:rPr lang="de-DE" sz="1100">
                <a:solidFill>
                  <a:srgbClr val="0E0E0E"/>
                </a:solidFill>
              </a:rPr>
              <a:t>.</a:t>
            </a:r>
            <a:endParaRPr sz="1100">
              <a:solidFill>
                <a:srgbClr val="0E0E0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1100"/>
              <a:buAutoNum type="arabicPeriod"/>
            </a:pPr>
            <a:r>
              <a:rPr lang="de-DE" sz="1100" u="sng">
                <a:solidFill>
                  <a:schemeClr val="hlink"/>
                </a:solidFill>
                <a:hlinkClick r:id="rId11"/>
              </a:rPr>
              <a:t>https://deepai.org/machine-learning-glossary-and-terms/feature-reduction</a:t>
            </a:r>
            <a:r>
              <a:rPr lang="de-DE" sz="1100">
                <a:solidFill>
                  <a:srgbClr val="0E0E0E"/>
                </a:solidFill>
              </a:rPr>
              <a:t> </a:t>
            </a:r>
            <a:endParaRPr sz="1100">
              <a:solidFill>
                <a:srgbClr val="0E0E0E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de-DE" sz="1100" u="sng">
                <a:solidFill>
                  <a:schemeClr val="hlink"/>
                </a:solidFill>
                <a:hlinkClick r:id="rId12"/>
              </a:rPr>
              <a:t>https://medium.com/aimonks/a-comparative-analysis-of-dimensionality-reduction-techniques-in-machine-learning-3389c5103348</a:t>
            </a:r>
            <a:r>
              <a:rPr lang="de-DE" sz="1100"/>
              <a:t> 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de-DE" sz="1100" u="sng">
                <a:solidFill>
                  <a:schemeClr val="hlink"/>
                </a:solidFill>
                <a:hlinkClick r:id="rId13"/>
              </a:rPr>
              <a:t>https://medium.com/data-science/dimensionality-reduction-for-data-visualization-pca-vs-tsne-vs-umap-be4aa7b1cb29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de-DE" sz="1100" u="sng">
                <a:solidFill>
                  <a:schemeClr val="hlink"/>
                </a:solidFill>
                <a:hlinkClick r:id="rId14"/>
              </a:rPr>
              <a:t>https://www.geeksforgeeks.org/dimensionality-reduction/</a:t>
            </a:r>
            <a:r>
              <a:rPr lang="de-DE" sz="1100"/>
              <a:t> </a:t>
            </a:r>
            <a:endParaRPr sz="1100"/>
          </a:p>
        </p:txBody>
      </p:sp>
      <p:sp>
        <p:nvSpPr>
          <p:cNvPr id="350" name="Google Shape;350;p32"/>
          <p:cNvSpPr txBox="1"/>
          <p:nvPr>
            <p:ph idx="12" type="sldNum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/>
        </p:nvSpPr>
        <p:spPr>
          <a:xfrm>
            <a:off x="552526" y="2947391"/>
            <a:ext cx="44829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3"/>
              <a:buFont typeface="Arial"/>
              <a:buNone/>
            </a:pPr>
            <a:r>
              <a:rPr b="1" i="0" lang="de-DE" sz="2223" u="none" cap="none" strike="noStrike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rPr>
              <a:t>Thank You For Your Attention!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3"/>
          <p:cNvSpPr txBox="1"/>
          <p:nvPr>
            <p:ph type="ctrTitle"/>
          </p:nvPr>
        </p:nvSpPr>
        <p:spPr>
          <a:xfrm>
            <a:off x="552525" y="1199675"/>
            <a:ext cx="76503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de-DE" sz="2423">
                <a:latin typeface="Nunito"/>
                <a:ea typeface="Nunito"/>
                <a:cs typeface="Nunito"/>
                <a:sym typeface="Nunito"/>
              </a:rPr>
              <a:t>Feature Reduction in Time Series</a:t>
            </a:r>
            <a:endParaRPr sz="2423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